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982995231e4570" /><Relationship Type="http://schemas.openxmlformats.org/officeDocument/2006/relationships/extended-properties" Target="/docProps/app.xml" Id="R97b4357d09cb4a13" /><Relationship Type="http://schemas.openxmlformats.org/officeDocument/2006/relationships/officeDocument" Target="/ppt/presentation.xml" Id="R4eb926ec3be945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f3368b7271a4e70"/>
  </p:sldMasterIdLst>
  <p:notesMasterIdLst>
    <p:notesMasterId xmlns:r="http://schemas.openxmlformats.org/officeDocument/2006/relationships" r:id="R11d97b016f6e4942"/>
  </p:notesMasterIdLst>
  <p:sldIdLst>
    <p:sldId xmlns:r="http://schemas.openxmlformats.org/officeDocument/2006/relationships" id="256" r:id="Rca5ba812b0954852"/>
    <p:sldId xmlns:r="http://schemas.openxmlformats.org/officeDocument/2006/relationships" id="257" r:id="R8862b342fdd94e2a"/>
    <p:sldId xmlns:r="http://schemas.openxmlformats.org/officeDocument/2006/relationships" id="258" r:id="Rb5ea5e3dba274c67"/>
    <p:sldId xmlns:r="http://schemas.openxmlformats.org/officeDocument/2006/relationships" id="259" r:id="R29b1222a695340da"/>
    <p:sldId xmlns:r="http://schemas.openxmlformats.org/officeDocument/2006/relationships" id="260" r:id="R0d4214a3084c4497"/>
    <p:sldId xmlns:r="http://schemas.openxmlformats.org/officeDocument/2006/relationships" id="261" r:id="R041618070641432d"/>
    <p:sldId xmlns:r="http://schemas.openxmlformats.org/officeDocument/2006/relationships" id="262" r:id="R3aa58b6e94db476b"/>
    <p:sldId xmlns:r="http://schemas.openxmlformats.org/officeDocument/2006/relationships" id="263" r:id="R1cbe0f1a883c4ada"/>
    <p:sldId xmlns:r="http://schemas.openxmlformats.org/officeDocument/2006/relationships" id="264" r:id="R82dc1016a47c4a1e"/>
    <p:sldId xmlns:r="http://schemas.openxmlformats.org/officeDocument/2006/relationships" id="265" r:id="R47b2688d28c14217"/>
    <p:sldId xmlns:r="http://schemas.openxmlformats.org/officeDocument/2006/relationships" id="266" r:id="Rcc130fb2a8994ebe"/>
    <p:sldId xmlns:r="http://schemas.openxmlformats.org/officeDocument/2006/relationships" id="267" r:id="Rde8cc98ead224384"/>
    <p:sldId xmlns:r="http://schemas.openxmlformats.org/officeDocument/2006/relationships" id="268" r:id="R8e02e32f5ef74708"/>
    <p:sldId xmlns:r="http://schemas.openxmlformats.org/officeDocument/2006/relationships" id="269" r:id="Rc8a858f4f7ec4c5c"/>
    <p:sldId xmlns:r="http://schemas.openxmlformats.org/officeDocument/2006/relationships" id="270" r:id="Ra8b693c798554a90"/>
    <p:sldId xmlns:r="http://schemas.openxmlformats.org/officeDocument/2006/relationships" id="271" r:id="R2f032486c86a4242"/>
    <p:sldId xmlns:r="http://schemas.openxmlformats.org/officeDocument/2006/relationships" id="272" r:id="R3dca004acfbb4193"/>
    <p:sldId xmlns:r="http://schemas.openxmlformats.org/officeDocument/2006/relationships" id="273" r:id="Rfef6a66d199848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702a5971e54a74" /><Relationship Type="http://schemas.openxmlformats.org/officeDocument/2006/relationships/slideMaster" Target="/ppt/slideMasters/slideMaster1.xml" Id="Rcf3368b7271a4e70" /><Relationship Type="http://schemas.openxmlformats.org/officeDocument/2006/relationships/notesMaster" Target="/ppt/notesMasters/notesMaster1.xml" Id="R11d97b016f6e4942" /><Relationship Type="http://schemas.openxmlformats.org/officeDocument/2006/relationships/presProps" Target="/ppt/presProps.xml" Id="R7727ea8ea0ac4974" /><Relationship Type="http://schemas.openxmlformats.org/officeDocument/2006/relationships/tableStyles" Target="/ppt/tableStyles.xml" Id="R1954c8b138c34020" /><Relationship Type="http://schemas.openxmlformats.org/officeDocument/2006/relationships/slide" Target="/ppt/slides/slide1.xml" Id="Rca5ba812b0954852" /><Relationship Type="http://schemas.openxmlformats.org/officeDocument/2006/relationships/slide" Target="/ppt/slides/slide2.xml" Id="R8862b342fdd94e2a" /><Relationship Type="http://schemas.openxmlformats.org/officeDocument/2006/relationships/slide" Target="/ppt/slides/slide3.xml" Id="Rb5ea5e3dba274c67" /><Relationship Type="http://schemas.openxmlformats.org/officeDocument/2006/relationships/slide" Target="/ppt/slides/slide4.xml" Id="R29b1222a695340da" /><Relationship Type="http://schemas.openxmlformats.org/officeDocument/2006/relationships/slide" Target="/ppt/slides/slide5.xml" Id="R0d4214a3084c4497" /><Relationship Type="http://schemas.openxmlformats.org/officeDocument/2006/relationships/slide" Target="/ppt/slides/slide6.xml" Id="R041618070641432d" /><Relationship Type="http://schemas.openxmlformats.org/officeDocument/2006/relationships/slide" Target="/ppt/slides/slide7.xml" Id="R3aa58b6e94db476b" /><Relationship Type="http://schemas.openxmlformats.org/officeDocument/2006/relationships/slide" Target="/ppt/slides/slide8.xml" Id="R1cbe0f1a883c4ada" /><Relationship Type="http://schemas.openxmlformats.org/officeDocument/2006/relationships/slide" Target="/ppt/slides/slide9.xml" Id="R82dc1016a47c4a1e" /><Relationship Type="http://schemas.openxmlformats.org/officeDocument/2006/relationships/slide" Target="/ppt/slides/slide10.xml" Id="R47b2688d28c14217" /><Relationship Type="http://schemas.openxmlformats.org/officeDocument/2006/relationships/slide" Target="/ppt/slides/slide11.xml" Id="Rcc130fb2a8994ebe" /><Relationship Type="http://schemas.openxmlformats.org/officeDocument/2006/relationships/slide" Target="/ppt/slides/slide12.xml" Id="Rde8cc98ead224384" /><Relationship Type="http://schemas.openxmlformats.org/officeDocument/2006/relationships/slide" Target="/ppt/slides/slide13.xml" Id="R8e02e32f5ef74708" /><Relationship Type="http://schemas.openxmlformats.org/officeDocument/2006/relationships/slide" Target="/ppt/slides/slide14.xml" Id="Rc8a858f4f7ec4c5c" /><Relationship Type="http://schemas.openxmlformats.org/officeDocument/2006/relationships/slide" Target="/ppt/slides/slide15.xml" Id="Ra8b693c798554a90" /><Relationship Type="http://schemas.openxmlformats.org/officeDocument/2006/relationships/slide" Target="/ppt/slides/slide16.xml" Id="R2f032486c86a4242" /><Relationship Type="http://schemas.openxmlformats.org/officeDocument/2006/relationships/slide" Target="/ppt/slides/slide17.xml" Id="R3dca004acfbb4193" /><Relationship Type="http://schemas.openxmlformats.org/officeDocument/2006/relationships/slide" Target="/ppt/slides/slide18.xml" Id="Rfef6a66d199848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86a8b510ef43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50ce56550ec4d7d" /><Relationship Type="http://schemas.openxmlformats.org/officeDocument/2006/relationships/notesMaster" Target="/ppt/notesMasters/notesMaster1.xml" Id="R0629b8d6628543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23fd453319d48b7" /><Relationship Type="http://schemas.openxmlformats.org/officeDocument/2006/relationships/notesMaster" Target="/ppt/notesMasters/notesMaster1.xml" Id="R498e21af21224c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407f8a7d544d45" /><Relationship Type="http://schemas.openxmlformats.org/officeDocument/2006/relationships/notesMaster" Target="/ppt/notesMasters/notesMaster1.xml" Id="R9c9479156d564c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f97b29e42b4052" /><Relationship Type="http://schemas.openxmlformats.org/officeDocument/2006/relationships/notesMaster" Target="/ppt/notesMasters/notesMaster1.xml" Id="R366761f1020440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e575bf3945415b" /><Relationship Type="http://schemas.openxmlformats.org/officeDocument/2006/relationships/notesMaster" Target="/ppt/notesMasters/notesMaster1.xml" Id="Re25774dcc3de4d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b8b23c2512541c9" /><Relationship Type="http://schemas.openxmlformats.org/officeDocument/2006/relationships/notesMaster" Target="/ppt/notesMasters/notesMaster1.xml" Id="R6a24d2e631124f9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67e2d786004cfd" /><Relationship Type="http://schemas.openxmlformats.org/officeDocument/2006/relationships/notesMaster" Target="/ppt/notesMasters/notesMaster1.xml" Id="R55b4c03f9a3344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94df219ffe24925" /><Relationship Type="http://schemas.openxmlformats.org/officeDocument/2006/relationships/notesMaster" Target="/ppt/notesMasters/notesMaster1.xml" Id="Rb412c6b7e2c245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d8c0e2a68240d6" /><Relationship Type="http://schemas.openxmlformats.org/officeDocument/2006/relationships/notesMaster" Target="/ppt/notesMasters/notesMaster1.xml" Id="R20aebbe364c24f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5f72b7508074d76" /><Relationship Type="http://schemas.openxmlformats.org/officeDocument/2006/relationships/notesMaster" Target="/ppt/notesMasters/notesMaster1.xml" Id="Rd7fc5af812ed4fd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8a0c400c00440f9" /><Relationship Type="http://schemas.openxmlformats.org/officeDocument/2006/relationships/notesMaster" Target="/ppt/notesMasters/notesMaster1.xml" Id="R6dfa36921f124e1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efdc8dff2954225" /><Relationship Type="http://schemas.openxmlformats.org/officeDocument/2006/relationships/notesMaster" Target="/ppt/notesMasters/notesMaster1.xml" Id="R2e7af9d1fb1148d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f9e05f92dc8455c" /><Relationship Type="http://schemas.openxmlformats.org/officeDocument/2006/relationships/notesMaster" Target="/ppt/notesMasters/notesMaster1.xml" Id="Rd80951b5e13141f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c4f3aa4babd4976" /><Relationship Type="http://schemas.openxmlformats.org/officeDocument/2006/relationships/notesMaster" Target="/ppt/notesMasters/notesMaster1.xml" Id="Rf2343cd42a8f4ca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ca4b5ae9e04410a" /><Relationship Type="http://schemas.openxmlformats.org/officeDocument/2006/relationships/notesMaster" Target="/ppt/notesMasters/notesMaster1.xml" Id="R7fbd2b1fc5fd4c9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99f6ccb73124c4e" /><Relationship Type="http://schemas.openxmlformats.org/officeDocument/2006/relationships/notesMaster" Target="/ppt/notesMasters/notesMaster1.xml" Id="R50c9e687c9db44a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7beb2ed3424b8c" /><Relationship Type="http://schemas.openxmlformats.org/officeDocument/2006/relationships/notesMaster" Target="/ppt/notesMasters/notesMaster1.xml" Id="R2917beed4e544bf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ac4e40377f94f32" /><Relationship Type="http://schemas.openxmlformats.org/officeDocument/2006/relationships/notesMaster" Target="/ppt/notesMasters/notesMaster1.xml" Id="R90ca9fb5ddeb41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edd11f2eeb43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215ace788d498a" /><Relationship Type="http://schemas.openxmlformats.org/officeDocument/2006/relationships/slideLayout" Target="/ppt/slideLayouts/slideLayout1.xml" Id="Rd3e96067be5d47d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3e96067be5d47d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6beae3844a4602" /><Relationship Type="http://schemas.openxmlformats.org/officeDocument/2006/relationships/notesSlide" Target="/ppt/notesSlides/notesSlide1.xml" Id="Re9392582b89845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8273d0ffd407d" /><Relationship Type="http://schemas.openxmlformats.org/officeDocument/2006/relationships/notesSlide" Target="/ppt/notesSlides/notesSlide2.xml" Id="Rf6e913051e624b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a9b78aef34362" /><Relationship Type="http://schemas.openxmlformats.org/officeDocument/2006/relationships/notesSlide" Target="/ppt/notesSlides/notesSlide3.xml" Id="Rbaa0f353316449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463d644a204b43" /><Relationship Type="http://schemas.openxmlformats.org/officeDocument/2006/relationships/notesSlide" Target="/ppt/notesSlides/notesSlide4.xml" Id="R3c6c01174ea248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ce0d9278df42fe" /><Relationship Type="http://schemas.openxmlformats.org/officeDocument/2006/relationships/notesSlide" Target="/ppt/notesSlides/notesSlide5.xml" Id="R05ca7d412e3d4c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b87ad89982487e" /><Relationship Type="http://schemas.openxmlformats.org/officeDocument/2006/relationships/notesSlide" Target="/ppt/notesSlides/notesSlide6.xml" Id="Rb3993b369568499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ef750dcc548aa" /><Relationship Type="http://schemas.openxmlformats.org/officeDocument/2006/relationships/notesSlide" Target="/ppt/notesSlides/notesSlide7.xml" Id="R99fb70b4f9664f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3db9beb494ced" /><Relationship Type="http://schemas.openxmlformats.org/officeDocument/2006/relationships/notesSlide" Target="/ppt/notesSlides/notesSlide8.xml" Id="R56620b547c454cf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1087536034440" /><Relationship Type="http://schemas.openxmlformats.org/officeDocument/2006/relationships/notesSlide" Target="/ppt/notesSlides/notesSlide9.xml" Id="Rbef784688d25472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acc2460ea943bc" /><Relationship Type="http://schemas.openxmlformats.org/officeDocument/2006/relationships/notesSlide" Target="/ppt/notesSlides/notesSlide10.xml" Id="R4fa2a42753f946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ea29089ae41ca" /><Relationship Type="http://schemas.openxmlformats.org/officeDocument/2006/relationships/notesSlide" Target="/ppt/notesSlides/notesSlide11.xml" Id="Rd3aa1886d58b440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dd931db991470b" /><Relationship Type="http://schemas.openxmlformats.org/officeDocument/2006/relationships/notesSlide" Target="/ppt/notesSlides/notesSlide12.xml" Id="R57aa1a46aa14402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02aaf75f1848c0" /><Relationship Type="http://schemas.openxmlformats.org/officeDocument/2006/relationships/notesSlide" Target="/ppt/notesSlides/notesSlide13.xml" Id="Rc990ffa9ecea49a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81b9fd48846c5" /><Relationship Type="http://schemas.openxmlformats.org/officeDocument/2006/relationships/notesSlide" Target="/ppt/notesSlides/notesSlide14.xml" Id="Rd2b12ea965354b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660dd9713b4930" /><Relationship Type="http://schemas.openxmlformats.org/officeDocument/2006/relationships/notesSlide" Target="/ppt/notesSlides/notesSlide15.xml" Id="R04e9f988f5f745f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d61afb4add42f0" /><Relationship Type="http://schemas.openxmlformats.org/officeDocument/2006/relationships/notesSlide" Target="/ppt/notesSlides/notesSlide16.xml" Id="R6dabf18fd6ac498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cd4beba5224f06" /><Relationship Type="http://schemas.openxmlformats.org/officeDocument/2006/relationships/notesSlide" Target="/ppt/notesSlides/notesSlide17.xml" Id="Ra97e2d8905114b0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5253901de04e39" /><Relationship Type="http://schemas.openxmlformats.org/officeDocument/2006/relationships/notesSlide" Target="/ppt/notesSlides/notesSlide18.xml" Id="R2c1acd3550ba41e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">
            <a:extLst xmlns:a="http://schemas.openxmlformats.org/drawingml/2006/main">
              <a:ext uri="{FF2B5EF4-FFF2-40B4-BE49-F238E27FC236}">
                <a16:creationId xmlns:a16="http://schemas.microsoft.com/office/drawing/2014/main" id="{1C6E5555-1739-4E00-94C1-ED54A86CA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">
            <a:extLst xmlns:a="http://schemas.openxmlformats.org/drawingml/2006/main">
              <a:ext uri="{FF2B5EF4-FFF2-40B4-BE49-F238E27FC236}">
                <a16:creationId xmlns:a16="http://schemas.microsoft.com/office/drawing/2014/main" id="{0D2D5158-7F4D-4404-986C-6989434F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SAVEFUNDS</a:t>
            </a:r>
          </a:p>
        </p:txBody>
      </p:sp>
      <p:sp>
        <p:nvSpPr>
          <p:cNvPr id="3" name="main-title">
            <a:extLst xmlns:a="http://schemas.openxmlformats.org/drawingml/2006/main">
              <a:ext uri="{FF2B5EF4-FFF2-40B4-BE49-F238E27FC236}">
                <a16:creationId xmlns:a16="http://schemas.microsoft.com/office/drawing/2014/main" id="{8514956E-4B82-411D-AA76-1A71931F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Solution d'aide à la décision pour les retraits financiers en PME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F379E1DE-1129-436B-A856-AFB92256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995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C7D2FE"/>
                </a:solidFill>
                <a:latin typeface="Aptos"/>
                <a:ea typeface="Aptos"/>
                <a:cs typeface="Aptos"/>
              </a:rPr>
              <a:t>Défense TFE - application full-stack Spring Boot / Vue / PostgreSQL</a:t>
            </a:r>
          </a:p>
        </p:txBody>
      </p:sp>
      <p:sp>
        <p:nvSpPr>
          <p:cNvPr id="5" name="author">
            <a:extLst xmlns:a="http://schemas.openxmlformats.org/drawingml/2006/main">
              <a:ext uri="{FF2B5EF4-FFF2-40B4-BE49-F238E27FC236}">
                <a16:creationId xmlns:a16="http://schemas.microsoft.com/office/drawing/2014/main" id="{14A6EF54-7B47-44F2-9B69-8A4CFCF0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76875"/>
            <a:ext cx="571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D7DEE9"/>
                </a:solidFill>
                <a:latin typeface="Aptos"/>
                <a:ea typeface="Aptos"/>
                <a:cs typeface="Aptos"/>
              </a:rPr>
              <a:t>Steve Djomatchoua Monthe</a:t>
            </a:r>
          </a:p>
          <a:p xmlns:a="http://schemas.openxmlformats.org/drawingml/2006/main">
            <a:pPr>
              <a:defRPr sz="120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D7DEE9"/>
                </a:solidFill>
                <a:latin typeface="Aptos"/>
                <a:ea typeface="Aptos"/>
                <a:cs typeface="Aptos"/>
              </a:rPr>
              <a:t>Bachelier en informatique - HEPL</a:t>
            </a:r>
          </a:p>
          <a:p xmlns:a="http://schemas.openxmlformats.org/drawingml/2006/main">
            <a:pPr>
              <a:defRPr sz="1200">
                <a:solidFill>
                  <a:srgbClr val="D7DEE9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D7DEE9"/>
                </a:solidFill>
                <a:latin typeface="Aptos"/>
                <a:ea typeface="Aptos"/>
                <a:cs typeface="Aptos"/>
              </a:rPr>
              <a:t>Annee academique 2025-2026</a:t>
            </a:r>
          </a:p>
        </p:txBody>
      </p:sp>
    </p:spTree>
    <p:extLst>
      <p:ext uri="{BB962C8B-B14F-4D97-AF65-F5344CB8AC3E}">
        <p14:creationId xmlns:p14="http://schemas.microsoft.com/office/powerpoint/2010/main" val="15417420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EA2849EF-3CAE-455C-A943-61D07ED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005B0BDB-B4E8-46F3-A4B2-1F5EE8C35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01 - Fil conducteur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E08F80D-179B-4757-A2A0-094F8195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Message directeur de la défense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6A49BEC-F669-443C-B088-CD3A013C6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89A43C12-8046-4EC9-B8C0-36D17C725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F0C4B60-C955-4E35-ADA9-54DE79D12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2/18</a:t>
            </a:r>
          </a:p>
        </p:txBody>
      </p:sp>
      <p:sp>
        <p:nvSpPr>
          <p:cNvPr id="7" name="key-message">
            <a:extLst xmlns:a="http://schemas.openxmlformats.org/drawingml/2006/main">
              <a:ext uri="{FF2B5EF4-FFF2-40B4-BE49-F238E27FC236}">
                <a16:creationId xmlns:a16="http://schemas.microsoft.com/office/drawing/2014/main" id="{BD31CA9A-947D-428F-A1A3-A4EEE18B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SaveFunds transforme une question floue - puis-je retirer cet argent sans fragiliser ma société ? - en décision argumentée.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A5717122-D3D2-4AA3-B8F5-2D653117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30003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1D22605-009E-4F23-B1FD-35471BDB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987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">
            <a:extLst xmlns:a="http://schemas.openxmlformats.org/drawingml/2006/main">
              <a:ext uri="{FF2B5EF4-FFF2-40B4-BE49-F238E27FC236}">
                <a16:creationId xmlns:a16="http://schemas.microsoft.com/office/drawing/2014/main" id="{6405ED8A-87E3-4033-8E6B-25220E2E0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81325"/>
            <a:ext cx="2600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Metier</a:t>
            </a:r>
          </a:p>
        </p:txBody>
      </p:sp>
      <p:sp>
        <p:nvSpPr>
          <p:cNvPr id="11" name="card-body">
            <a:extLst xmlns:a="http://schemas.openxmlformats.org/drawingml/2006/main">
              <a:ext uri="{FF2B5EF4-FFF2-40B4-BE49-F238E27FC236}">
                <a16:creationId xmlns:a16="http://schemas.microsoft.com/office/drawing/2014/main" id="{F0D3BB32-D335-47F1-A87B-633D2AAA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2600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Aider le dirigeant de PME/SRL a anticiper le risque de trésorerie.</a:t>
            </a:r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0E4531D9-6DFF-4684-8A04-7B54C2D5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30003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ard-accent">
            <a:extLst xmlns:a="http://schemas.openxmlformats.org/drawingml/2006/main">
              <a:ext uri="{FF2B5EF4-FFF2-40B4-BE49-F238E27FC236}">
                <a16:creationId xmlns:a16="http://schemas.microsoft.com/office/drawing/2014/main" id="{1D59B5F6-3311-4CB0-9C29-BD8DFBE1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0987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">
            <a:extLst xmlns:a="http://schemas.openxmlformats.org/drawingml/2006/main">
              <a:ext uri="{FF2B5EF4-FFF2-40B4-BE49-F238E27FC236}">
                <a16:creationId xmlns:a16="http://schemas.microsoft.com/office/drawing/2014/main" id="{52069F74-F0F6-4978-87B7-8E68F9831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81325"/>
            <a:ext cx="2600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Technique</a:t>
            </a:r>
          </a:p>
        </p:txBody>
      </p:sp>
      <p:sp>
        <p:nvSpPr>
          <p:cNvPr id="15" name="card-body">
            <a:extLst xmlns:a="http://schemas.openxmlformats.org/drawingml/2006/main">
              <a:ext uri="{FF2B5EF4-FFF2-40B4-BE49-F238E27FC236}">
                <a16:creationId xmlns:a16="http://schemas.microsoft.com/office/drawing/2014/main" id="{F718246E-71C9-40BC-8BE9-390FE91E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362325"/>
            <a:ext cx="2600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Structurer une API REST securisee autour d'une logique financière claire.</a:t>
            </a:r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729405DD-2B2C-4EA7-9BFA-5259D20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30003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80011B2-A379-4962-9F7C-2B38B3A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">
            <a:extLst xmlns:a="http://schemas.openxmlformats.org/drawingml/2006/main">
              <a:ext uri="{FF2B5EF4-FFF2-40B4-BE49-F238E27FC236}">
                <a16:creationId xmlns:a16="http://schemas.microsoft.com/office/drawing/2014/main" id="{6F39FA59-D8E0-4D8B-9B73-084ECE068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81325"/>
            <a:ext cx="2600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Défense</a:t>
            </a:r>
          </a:p>
        </p:txBody>
      </p:sp>
      <p:sp>
        <p:nvSpPr>
          <p:cNvPr id="19" name="card-body">
            <a:extLst xmlns:a="http://schemas.openxmlformats.org/drawingml/2006/main">
              <a:ext uri="{FF2B5EF4-FFF2-40B4-BE49-F238E27FC236}">
                <a16:creationId xmlns:a16="http://schemas.microsoft.com/office/drawing/2014/main" id="{7B72F1EB-7868-489A-A779-BABB8AAF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62325"/>
            <a:ext cx="2600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Montrer les calculs, le workflow et les choix de mise en production.</a:t>
            </a:r>
          </a:p>
        </p:txBody>
      </p:sp>
    </p:spTree>
    <p:extLst>
      <p:ext uri="{BB962C8B-B14F-4D97-AF65-F5344CB8AC3E}">
        <p14:creationId xmlns:p14="http://schemas.microsoft.com/office/powerpoint/2010/main" val="19324148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C37D26C4-65E1-4659-B8D5-7629869C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9E88B25-2B51-4119-9E9F-CE7CA036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02 - Introduction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F50EEA-0ABA-4E6E-87F2-498EF5F1A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Contexte du stage et contribution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DFE2F191-2BE7-49B4-B951-EBBE465F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88808F1E-50F8-475F-8DC9-1A3D702BC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F4CF918E-5E40-4493-90A2-CD49D6EE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3/18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B401C43A-5676-4E35-A48C-F05F829C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56987D2-D82E-4FE9-B260-1F759F2D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D6BF5E08-53FC-450C-B27D-6D99EE70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43075"/>
            <a:ext cx="436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PROFACILE SRL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12598DA5-57EB-4467-9F3F-1D9F19BD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43624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Développement de solutions web et accompagnement numérique de clients avec des besoins métier spécifiques.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D475B6B0-CBF9-4F2B-939A-AF8A7E0F2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0957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C8B3C8E-48D4-4DFE-9A4D-0F5C5D3E4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571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3B9F76BC-1D50-4E74-A445-EBBBF1A99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43075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Mon rôle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3B92B3AE-A92E-46AE-82D9-E71E866F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24075"/>
            <a:ext cx="36957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Backend Spring Boot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API REST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Logique métier financière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Tests et validation</a:t>
            </a:r>
          </a:p>
        </p:txBody>
      </p:sp>
      <p:sp>
        <p:nvSpPr>
          <p:cNvPr id="15" name="collab">
            <a:extLst xmlns:a="http://schemas.openxmlformats.org/drawingml/2006/main">
              <a:ext uri="{FF2B5EF4-FFF2-40B4-BE49-F238E27FC236}">
                <a16:creationId xmlns:a16="http://schemas.microsoft.com/office/drawing/2014/main" id="{5F5B842F-8A36-40E0-A566-95C03B94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172033"/>
                </a:solidFill>
                <a:latin typeface="Aptos"/>
                <a:ea typeface="Aptos"/>
                <a:cs typeface="Aptos"/>
              </a:rPr>
              <a:t>Projet mene avec deux stagiaires : separation backend / frontend, collaboration par Git et validation progressive du MVP.</a:t>
            </a:r>
          </a:p>
        </p:txBody>
      </p:sp>
    </p:spTree>
    <p:extLst>
      <p:ext uri="{BB962C8B-B14F-4D97-AF65-F5344CB8AC3E}">
        <p14:creationId xmlns:p14="http://schemas.microsoft.com/office/powerpoint/2010/main" val="4767189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E5F7AFB-6A27-4334-B8F7-5C71546D7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8A0D753-2DD1-4AB1-9235-C9CFA530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03 - Problématique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2DFCBB1-6C85-432F-87AB-CE9F9AC55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Probleme métier identifie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1423994-E479-4F3C-8F2F-E4D7AC7E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E10F9C4C-545E-4290-80B8-F935BB407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D9080BE-FAFE-4654-AAB3-F7DF570B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4/18</a:t>
            </a:r>
          </a:p>
        </p:txBody>
      </p:sp>
      <p:sp>
        <p:nvSpPr>
          <p:cNvPr id="7" name="problem">
            <a:extLst xmlns:a="http://schemas.openxmlformats.org/drawingml/2006/main">
              <a:ext uri="{FF2B5EF4-FFF2-40B4-BE49-F238E27FC236}">
                <a16:creationId xmlns:a16="http://schemas.microsoft.com/office/drawing/2014/main" id="{EFCB7CE0-1235-4598-AEE8-A88B60DB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9144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Un dirigeant peut effectuer un retrait personnel sans voir immédiatement l'impact sur la trésorerie, les charges futures et le compte courant.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D1E5248B-0DB9-43D0-9E42-519BDADD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6CF1927-EF19-4B51-B922-75AAFD465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987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">
            <a:extLst xmlns:a="http://schemas.openxmlformats.org/drawingml/2006/main">
              <a:ext uri="{FF2B5EF4-FFF2-40B4-BE49-F238E27FC236}">
                <a16:creationId xmlns:a16="http://schemas.microsoft.com/office/drawing/2014/main" id="{55D7BDE8-6A9C-4F97-9712-64DD68939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81325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Visibilité faible</a:t>
            </a:r>
          </a:p>
        </p:txBody>
      </p:sp>
      <p:sp>
        <p:nvSpPr>
          <p:cNvPr id="11" name="card-body">
            <a:extLst xmlns:a="http://schemas.openxmlformats.org/drawingml/2006/main">
              <a:ext uri="{FF2B5EF4-FFF2-40B4-BE49-F238E27FC236}">
                <a16:creationId xmlns:a16="http://schemas.microsoft.com/office/drawing/2014/main" id="{985EC5A8-735F-4186-A6DC-377F75F11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62325"/>
            <a:ext cx="2457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Les données sont souvent dispersées ou analysées trop tard.</a:t>
            </a:r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FE1F69BF-C37B-4156-827A-974207A98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ard-accent">
            <a:extLst xmlns:a="http://schemas.openxmlformats.org/drawingml/2006/main">
              <a:ext uri="{FF2B5EF4-FFF2-40B4-BE49-F238E27FC236}">
                <a16:creationId xmlns:a16="http://schemas.microsoft.com/office/drawing/2014/main" id="{FB6DF5D7-DFDF-44C3-813E-8EDDCF3C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987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">
            <a:extLst xmlns:a="http://schemas.openxmlformats.org/drawingml/2006/main">
              <a:ext uri="{FF2B5EF4-FFF2-40B4-BE49-F238E27FC236}">
                <a16:creationId xmlns:a16="http://schemas.microsoft.com/office/drawing/2014/main" id="{337FA907-D338-4F11-93F4-773D7DAF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81325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Risque financier</a:t>
            </a:r>
          </a:p>
        </p:txBody>
      </p:sp>
      <p:sp>
        <p:nvSpPr>
          <p:cNvPr id="15" name="card-body">
            <a:extLst xmlns:a="http://schemas.openxmlformats.org/drawingml/2006/main">
              <a:ext uri="{FF2B5EF4-FFF2-40B4-BE49-F238E27FC236}">
                <a16:creationId xmlns:a16="http://schemas.microsoft.com/office/drawing/2014/main" id="{7EC20563-C02A-4DB9-B641-0BE7A62C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362325"/>
            <a:ext cx="2457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Un retrait peut réduire la réserve nécessaire aux charges.</a:t>
            </a:r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12CF5EE5-EB54-45DF-BF77-5941F40F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987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34E026A-16B6-4812-9BD9-0342B7B1F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09875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">
            <a:extLst xmlns:a="http://schemas.openxmlformats.org/drawingml/2006/main">
              <a:ext uri="{FF2B5EF4-FFF2-40B4-BE49-F238E27FC236}">
                <a16:creationId xmlns:a16="http://schemas.microsoft.com/office/drawing/2014/main" id="{0B11651D-59EE-4495-B664-4DE3C91ED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81325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Besoin de décision</a:t>
            </a:r>
          </a:p>
        </p:txBody>
      </p:sp>
      <p:sp>
        <p:nvSpPr>
          <p:cNvPr id="19" name="card-body">
            <a:extLst xmlns:a="http://schemas.openxmlformats.org/drawingml/2006/main">
              <a:ext uri="{FF2B5EF4-FFF2-40B4-BE49-F238E27FC236}">
                <a16:creationId xmlns:a16="http://schemas.microsoft.com/office/drawing/2014/main" id="{D4E1CE1D-27E7-4177-B9D0-1169B993F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362325"/>
            <a:ext cx="24574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Le dirigeant veut une réponse simple, mais justifiée.</a:t>
            </a:r>
          </a:p>
        </p:txBody>
      </p:sp>
    </p:spTree>
    <p:extLst>
      <p:ext uri="{BB962C8B-B14F-4D97-AF65-F5344CB8AC3E}">
        <p14:creationId xmlns:p14="http://schemas.microsoft.com/office/powerpoint/2010/main" val="19298652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BBCA2440-6196-40A5-9BBD-5E389C31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C85B92F-98F1-431C-A2A0-E45B9039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04 - Solution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DE6ECA-2D45-497C-B37D-776658E1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Solution proposee : SaveFunds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25BD1D5-C7D1-497D-ACDF-C3CB8FFAB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E16F2573-9872-4664-9353-6E1B67FF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8A0B7AD-DECB-4F9A-A402-D951C03B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5/18</a:t>
            </a:r>
          </a:p>
        </p:txBody>
      </p:sp>
      <p:sp>
        <p:nvSpPr>
          <p:cNvPr id="7" name="solution">
            <a:extLst xmlns:a="http://schemas.openxmlformats.org/drawingml/2006/main">
              <a:ext uri="{FF2B5EF4-FFF2-40B4-BE49-F238E27FC236}">
                <a16:creationId xmlns:a16="http://schemas.microsoft.com/office/drawing/2014/main" id="{282A3256-2341-41CF-9E4F-BDCA9D57B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668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L'application produit une décision tricolore à partir de quatre indicateurs financiers.</a:t>
            </a:r>
          </a:p>
        </p:txBody>
      </p:sp>
      <p:sp>
        <p:nvSpPr>
          <p:cNvPr id="8" name="pill">
            <a:extLst xmlns:a="http://schemas.openxmlformats.org/drawingml/2006/main">
              <a:ext uri="{FF2B5EF4-FFF2-40B4-BE49-F238E27FC236}">
                <a16:creationId xmlns:a16="http://schemas.microsoft.com/office/drawing/2014/main" id="{7CD68B34-B02A-468B-84D2-668AC802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476500"/>
            <a:ext cx="1524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A34A"/>
          </a:solidFill>
          <a:ln xmlns:a="http://schemas.openxmlformats.org/drawingml/2006/main" w="9525">
            <a:solidFill>
              <a:srgbClr val="16A34A"/>
            </a:solidFill>
            <a:prstDash val="solid"/>
          </a:ln>
        </p:spPr>
      </p:sp>
      <p:sp>
        <p:nvSpPr>
          <p:cNvPr id="9" name="pill-text">
            <a:extLst xmlns:a="http://schemas.openxmlformats.org/drawingml/2006/main">
              <a:ext uri="{FF2B5EF4-FFF2-40B4-BE49-F238E27FC236}">
                <a16:creationId xmlns:a16="http://schemas.microsoft.com/office/drawing/2014/main" id="{6F189643-6394-4E82-8CB4-6B7F5D3B0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5812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VERT</a:t>
            </a:r>
          </a:p>
        </p:txBody>
      </p:sp>
      <p:sp>
        <p:nvSpPr>
          <p:cNvPr id="10" name="pill">
            <a:extLst xmlns:a="http://schemas.openxmlformats.org/drawingml/2006/main">
              <a:ext uri="{FF2B5EF4-FFF2-40B4-BE49-F238E27FC236}">
                <a16:creationId xmlns:a16="http://schemas.microsoft.com/office/drawing/2014/main" id="{B57143B0-5F04-4945-9735-C393D5E0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76500"/>
            <a:ext cx="1524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9E0B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</p:sp>
      <p:sp>
        <p:nvSpPr>
          <p:cNvPr id="11" name="pill-text">
            <a:extLst xmlns:a="http://schemas.openxmlformats.org/drawingml/2006/main">
              <a:ext uri="{FF2B5EF4-FFF2-40B4-BE49-F238E27FC236}">
                <a16:creationId xmlns:a16="http://schemas.microsoft.com/office/drawing/2014/main" id="{45794731-B5F0-4F23-A2DD-812047DC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812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ORANGE</a:t>
            </a:r>
          </a:p>
        </p:txBody>
      </p:sp>
      <p:sp>
        <p:nvSpPr>
          <p:cNvPr id="12" name="pill">
            <a:extLst xmlns:a="http://schemas.openxmlformats.org/drawingml/2006/main">
              <a:ext uri="{FF2B5EF4-FFF2-40B4-BE49-F238E27FC236}">
                <a16:creationId xmlns:a16="http://schemas.microsoft.com/office/drawing/2014/main" id="{72E14A97-8B9C-4AA0-9741-A9206E1D4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76500"/>
            <a:ext cx="1524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13" name="pill-text">
            <a:extLst xmlns:a="http://schemas.openxmlformats.org/drawingml/2006/main">
              <a:ext uri="{FF2B5EF4-FFF2-40B4-BE49-F238E27FC236}">
                <a16:creationId xmlns:a16="http://schemas.microsoft.com/office/drawing/2014/main" id="{78B9EB24-3589-444F-A257-10049B57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58127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ROUGE</a:t>
            </a:r>
          </a:p>
        </p:txBody>
      </p:sp>
      <p:sp>
        <p:nvSpPr>
          <p:cNvPr id="14" name="flow-line">
            <a:extLst xmlns:a="http://schemas.openxmlformats.org/drawingml/2006/main">
              <a:ext uri="{FF2B5EF4-FFF2-40B4-BE49-F238E27FC236}">
                <a16:creationId xmlns:a16="http://schemas.microsoft.com/office/drawing/2014/main" id="{BEEF4624-4C21-48F5-BAAA-B7046B06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57625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flow-dot">
            <a:extLst xmlns:a="http://schemas.openxmlformats.org/drawingml/2006/main">
              <a:ext uri="{FF2B5EF4-FFF2-40B4-BE49-F238E27FC236}">
                <a16:creationId xmlns:a16="http://schemas.microsoft.com/office/drawing/2014/main" id="{ED36DB46-99BD-4484-8C59-42C19762C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909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A5E9"/>
            </a:solidFill>
            <a:prstDash val="solid"/>
          </a:ln>
        </p:spPr>
      </p:sp>
      <p:sp>
        <p:nvSpPr>
          <p:cNvPr id="16" name="flow-number">
            <a:extLst xmlns:a="http://schemas.openxmlformats.org/drawingml/2006/main">
              <a:ext uri="{FF2B5EF4-FFF2-40B4-BE49-F238E27FC236}">
                <a16:creationId xmlns:a16="http://schemas.microsoft.com/office/drawing/2014/main" id="{3B76D9BA-287D-42B9-9FB1-40B59C05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flow-label">
            <a:extLst xmlns:a="http://schemas.openxmlformats.org/drawingml/2006/main">
              <a:ext uri="{FF2B5EF4-FFF2-40B4-BE49-F238E27FC236}">
                <a16:creationId xmlns:a16="http://schemas.microsoft.com/office/drawing/2014/main" id="{3F2247BF-B88C-457E-8A8C-57BBA9C8E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33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Données</a:t>
            </a:r>
          </a:p>
        </p:txBody>
      </p:sp>
      <p:sp>
        <p:nvSpPr>
          <p:cNvPr id="18" name="flow-dot">
            <a:extLst xmlns:a="http://schemas.openxmlformats.org/drawingml/2006/main">
              <a:ext uri="{FF2B5EF4-FFF2-40B4-BE49-F238E27FC236}">
                <a16:creationId xmlns:a16="http://schemas.microsoft.com/office/drawing/2014/main" id="{985E6E6D-035D-4601-ADB3-759B7DF7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909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A5E9"/>
            </a:solidFill>
            <a:prstDash val="solid"/>
          </a:ln>
        </p:spPr>
      </p:sp>
      <p:sp>
        <p:nvSpPr>
          <p:cNvPr id="19" name="flow-number">
            <a:extLst xmlns:a="http://schemas.openxmlformats.org/drawingml/2006/main">
              <a:ext uri="{FF2B5EF4-FFF2-40B4-BE49-F238E27FC236}">
                <a16:creationId xmlns:a16="http://schemas.microsoft.com/office/drawing/2014/main" id="{7BC380F1-2ED9-4937-BCB5-4B384047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52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0" name="flow-label">
            <a:extLst xmlns:a="http://schemas.openxmlformats.org/drawingml/2006/main">
              <a:ext uri="{FF2B5EF4-FFF2-40B4-BE49-F238E27FC236}">
                <a16:creationId xmlns:a16="http://schemas.microsoft.com/office/drawing/2014/main" id="{E951505A-60DC-426C-95E6-6C687D8B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333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Calculs</a:t>
            </a:r>
          </a:p>
        </p:txBody>
      </p:sp>
      <p:sp>
        <p:nvSpPr>
          <p:cNvPr id="21" name="flow-dot">
            <a:extLst xmlns:a="http://schemas.openxmlformats.org/drawingml/2006/main">
              <a:ext uri="{FF2B5EF4-FFF2-40B4-BE49-F238E27FC236}">
                <a16:creationId xmlns:a16="http://schemas.microsoft.com/office/drawing/2014/main" id="{2D9B7E3C-2878-4A66-BC57-4AB036C8D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909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19050">
            <a:solidFill>
              <a:srgbClr val="0EA5E9"/>
            </a:solidFill>
            <a:prstDash val="solid"/>
          </a:ln>
        </p:spPr>
      </p:sp>
      <p:sp>
        <p:nvSpPr>
          <p:cNvPr id="22" name="flow-number">
            <a:extLst xmlns:a="http://schemas.openxmlformats.org/drawingml/2006/main">
              <a:ext uri="{FF2B5EF4-FFF2-40B4-BE49-F238E27FC236}">
                <a16:creationId xmlns:a16="http://schemas.microsoft.com/office/drawing/2014/main" id="{309A545B-519A-405E-95AF-E68AA502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flow-label">
            <a:extLst xmlns:a="http://schemas.openxmlformats.org/drawingml/2006/main">
              <a:ext uri="{FF2B5EF4-FFF2-40B4-BE49-F238E27FC236}">
                <a16:creationId xmlns:a16="http://schemas.microsoft.com/office/drawing/2014/main" id="{21F4CFD8-F80C-4397-8A6A-934C428C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333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Décision</a:t>
            </a:r>
          </a:p>
        </p:txBody>
      </p:sp>
      <p:sp>
        <p:nvSpPr>
          <p:cNvPr id="24" name="flow-dot">
            <a:extLst xmlns:a="http://schemas.openxmlformats.org/drawingml/2006/main">
              <a:ext uri="{FF2B5EF4-FFF2-40B4-BE49-F238E27FC236}">
                <a16:creationId xmlns:a16="http://schemas.microsoft.com/office/drawing/2014/main" id="{59ECE48C-F384-4162-B38F-D14D07E7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590925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EA5E9"/>
            </a:solidFill>
            <a:prstDash val="solid"/>
          </a:ln>
        </p:spPr>
      </p:sp>
      <p:sp>
        <p:nvSpPr>
          <p:cNvPr id="25" name="flow-number">
            <a:extLst xmlns:a="http://schemas.openxmlformats.org/drawingml/2006/main">
              <a:ext uri="{FF2B5EF4-FFF2-40B4-BE49-F238E27FC236}">
                <a16:creationId xmlns:a16="http://schemas.microsoft.com/office/drawing/2014/main" id="{834D234A-71D2-4DE4-9086-83FE8057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52850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flow-label">
            <a:extLst xmlns:a="http://schemas.openxmlformats.org/drawingml/2006/main">
              <a:ext uri="{FF2B5EF4-FFF2-40B4-BE49-F238E27FC236}">
                <a16:creationId xmlns:a16="http://schemas.microsoft.com/office/drawing/2014/main" id="{9D01A377-D332-487B-9689-50970934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33875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Recommandations</a:t>
            </a:r>
          </a:p>
        </p:txBody>
      </p:sp>
    </p:spTree>
    <p:extLst>
      <p:ext uri="{BB962C8B-B14F-4D97-AF65-F5344CB8AC3E}">
        <p14:creationId xmlns:p14="http://schemas.microsoft.com/office/powerpoint/2010/main" val="17996505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0636AABD-7300-47F0-BB29-E496938D1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24227AA-B6D7-49DC-BF87-32162F0FE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05 - Workflow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BDF00E-2473-46D6-B043-F2CA992D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Parcours utilisateur montre pendant la demo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46328E6-2020-4DB9-8DED-E427338F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BAD8A981-C90B-4AAB-920C-90C15145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E7076F5-2227-487D-B4D9-A14881329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6/18</a:t>
            </a:r>
          </a:p>
        </p:txBody>
      </p:sp>
      <p:sp>
        <p:nvSpPr>
          <p:cNvPr id="7" name="step-num">
            <a:extLst xmlns:a="http://schemas.openxmlformats.org/drawingml/2006/main">
              <a:ext uri="{FF2B5EF4-FFF2-40B4-BE49-F238E27FC236}">
                <a16:creationId xmlns:a16="http://schemas.microsoft.com/office/drawing/2014/main" id="{81E3AB4A-B8D2-4962-BA2A-D4B7B7A23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476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n">
            <a:extLst xmlns:a="http://schemas.openxmlformats.org/drawingml/2006/main">
              <a:ext uri="{FF2B5EF4-FFF2-40B4-BE49-F238E27FC236}">
                <a16:creationId xmlns:a16="http://schemas.microsoft.com/office/drawing/2014/main" id="{33F0EF21-C9E3-4336-9A6F-671877FE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192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step-title">
            <a:extLst xmlns:a="http://schemas.openxmlformats.org/drawingml/2006/main">
              <a:ext uri="{FF2B5EF4-FFF2-40B4-BE49-F238E27FC236}">
                <a16:creationId xmlns:a16="http://schemas.microsoft.com/office/drawing/2014/main" id="{EECC0839-FAA7-4F0D-8681-68090A1F8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5049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Connexion</a:t>
            </a:r>
          </a:p>
        </p:txBody>
      </p:sp>
      <p:sp>
        <p:nvSpPr>
          <p:cNvPr id="10" name="step-body">
            <a:extLst xmlns:a="http://schemas.openxmlformats.org/drawingml/2006/main">
              <a:ext uri="{FF2B5EF4-FFF2-40B4-BE49-F238E27FC236}">
                <a16:creationId xmlns:a16="http://schemas.microsoft.com/office/drawing/2014/main" id="{3F100103-5328-47EC-B4A5-F6FFA171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85737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Le dirigeant s'authentifie et obtient un token JWT.</a:t>
            </a:r>
          </a:p>
        </p:txBody>
      </p:sp>
      <p:sp>
        <p:nvSpPr>
          <p:cNvPr id="11" name="step-num">
            <a:extLst xmlns:a="http://schemas.openxmlformats.org/drawingml/2006/main">
              <a:ext uri="{FF2B5EF4-FFF2-40B4-BE49-F238E27FC236}">
                <a16:creationId xmlns:a16="http://schemas.microsoft.com/office/drawing/2014/main" id="{7F6F8E8E-0D18-4DC3-942E-DFCFB1A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76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tep-n">
            <a:extLst xmlns:a="http://schemas.openxmlformats.org/drawingml/2006/main">
              <a:ext uri="{FF2B5EF4-FFF2-40B4-BE49-F238E27FC236}">
                <a16:creationId xmlns:a16="http://schemas.microsoft.com/office/drawing/2014/main" id="{6EE056A9-11DF-4713-AF64-CD139A99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1937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step-title">
            <a:extLst xmlns:a="http://schemas.openxmlformats.org/drawingml/2006/main">
              <a:ext uri="{FF2B5EF4-FFF2-40B4-BE49-F238E27FC236}">
                <a16:creationId xmlns:a16="http://schemas.microsoft.com/office/drawing/2014/main" id="{498A4C91-1B62-4340-A388-6E21F68C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50507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Entreprise</a:t>
            </a:r>
          </a:p>
        </p:txBody>
      </p:sp>
      <p:sp>
        <p:nvSpPr>
          <p:cNvPr id="14" name="step-body">
            <a:extLst xmlns:a="http://schemas.openxmlformats.org/drawingml/2006/main">
              <a:ext uri="{FF2B5EF4-FFF2-40B4-BE49-F238E27FC236}">
                <a16:creationId xmlns:a16="http://schemas.microsoft.com/office/drawing/2014/main" id="{1370811F-FED3-4B7D-8657-6F58A637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5750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Il encode les données financières de la société.</a:t>
            </a:r>
          </a:p>
        </p:txBody>
      </p:sp>
      <p:sp>
        <p:nvSpPr>
          <p:cNvPr id="15" name="step-num">
            <a:extLst xmlns:a="http://schemas.openxmlformats.org/drawingml/2006/main">
              <a:ext uri="{FF2B5EF4-FFF2-40B4-BE49-F238E27FC236}">
                <a16:creationId xmlns:a16="http://schemas.microsoft.com/office/drawing/2014/main" id="{38423C61-092D-4F71-B58F-DD44F919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ep-n">
            <a:extLst xmlns:a="http://schemas.openxmlformats.org/drawingml/2006/main">
              <a:ext uri="{FF2B5EF4-FFF2-40B4-BE49-F238E27FC236}">
                <a16:creationId xmlns:a16="http://schemas.microsoft.com/office/drawing/2014/main" id="{0AA23670-95C8-4E85-AB55-77DEABA2C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1950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step-title">
            <a:extLst xmlns:a="http://schemas.openxmlformats.org/drawingml/2006/main">
              <a:ext uri="{FF2B5EF4-FFF2-40B4-BE49-F238E27FC236}">
                <a16:creationId xmlns:a16="http://schemas.microsoft.com/office/drawing/2014/main" id="{F7D44212-DFF0-4196-83E2-9B7E2CDA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052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Analyse</a:t>
            </a:r>
          </a:p>
        </p:txBody>
      </p:sp>
      <p:sp>
        <p:nvSpPr>
          <p:cNvPr id="18" name="step-body">
            <a:extLst xmlns:a="http://schemas.openxmlformats.org/drawingml/2006/main">
              <a:ext uri="{FF2B5EF4-FFF2-40B4-BE49-F238E27FC236}">
                <a16:creationId xmlns:a16="http://schemas.microsoft.com/office/drawing/2014/main" id="{EEB42A6E-FB8E-4619-856F-9784B0024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Il indique le montant souhaité et lance le calcul.</a:t>
            </a:r>
          </a:p>
        </p:txBody>
      </p:sp>
      <p:sp>
        <p:nvSpPr>
          <p:cNvPr id="19" name="step-num">
            <a:extLst xmlns:a="http://schemas.openxmlformats.org/drawingml/2006/main">
              <a:ext uri="{FF2B5EF4-FFF2-40B4-BE49-F238E27FC236}">
                <a16:creationId xmlns:a16="http://schemas.microsoft.com/office/drawing/2014/main" id="{6E395CC4-D1F8-4760-B543-314313868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76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ep-n">
            <a:extLst xmlns:a="http://schemas.openxmlformats.org/drawingml/2006/main">
              <a:ext uri="{FF2B5EF4-FFF2-40B4-BE49-F238E27FC236}">
                <a16:creationId xmlns:a16="http://schemas.microsoft.com/office/drawing/2014/main" id="{BA126277-9549-4227-9B31-0EECBE6C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619625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1" name="step-title">
            <a:extLst xmlns:a="http://schemas.openxmlformats.org/drawingml/2006/main">
              <a:ext uri="{FF2B5EF4-FFF2-40B4-BE49-F238E27FC236}">
                <a16:creationId xmlns:a16="http://schemas.microsoft.com/office/drawing/2014/main" id="{7E560CE9-F574-49DC-BA85-89FF2601C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05325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Résultat</a:t>
            </a:r>
          </a:p>
        </p:txBody>
      </p:sp>
      <p:sp>
        <p:nvSpPr>
          <p:cNvPr id="22" name="step-body">
            <a:extLst xmlns:a="http://schemas.openxmlformats.org/drawingml/2006/main">
              <a:ext uri="{FF2B5EF4-FFF2-40B4-BE49-F238E27FC236}">
                <a16:creationId xmlns:a16="http://schemas.microsoft.com/office/drawing/2014/main" id="{F6C185D6-D71E-49BD-B454-D46C9E3D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57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Il reçoit une couleur, des scores et des recommandations.</a:t>
            </a:r>
          </a:p>
        </p:txBody>
      </p:sp>
    </p:spTree>
    <p:extLst>
      <p:ext uri="{BB962C8B-B14F-4D97-AF65-F5344CB8AC3E}">
        <p14:creationId xmlns:p14="http://schemas.microsoft.com/office/powerpoint/2010/main" val="1917189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E159B49-93A3-4BA1-8EBB-0A7F1305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99A4F83-F8F4-46FB-BF31-D11F6BCD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06 - Données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EAA9913-7274-457A-AE42-10B065AF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Données collectees pour l'analyse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6405A6D-1035-4440-8C1A-7C52E265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A02E2479-12A0-44E8-A3B6-3AA52908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6752AB5F-808E-4648-A3F9-B9ACF96E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7/18</a:t>
            </a:r>
          </a:p>
        </p:txBody>
      </p:sp>
      <p:sp>
        <p:nvSpPr>
          <p:cNvPr id="7" name="row">
            <a:extLst xmlns:a="http://schemas.openxmlformats.org/drawingml/2006/main">
              <a:ext uri="{FF2B5EF4-FFF2-40B4-BE49-F238E27FC236}">
                <a16:creationId xmlns:a16="http://schemas.microsoft.com/office/drawing/2014/main" id="{5EC812AB-2D4A-4108-92EE-F9BF5FFF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76375"/>
            <a:ext cx="9906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data-name">
            <a:extLst xmlns:a="http://schemas.openxmlformats.org/drawingml/2006/main">
              <a:ext uri="{FF2B5EF4-FFF2-40B4-BE49-F238E27FC236}">
                <a16:creationId xmlns:a16="http://schemas.microsoft.com/office/drawing/2014/main" id="{2651C230-F118-4508-B61F-A391294F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097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Chiffre d'affaires mensuel</a:t>
            </a:r>
          </a:p>
        </p:txBody>
      </p:sp>
      <p:sp>
        <p:nvSpPr>
          <p:cNvPr id="9" name="data-why">
            <a:extLst xmlns:a="http://schemas.openxmlformats.org/drawingml/2006/main">
              <a:ext uri="{FF2B5EF4-FFF2-40B4-BE49-F238E27FC236}">
                <a16:creationId xmlns:a16="http://schemas.microsoft.com/office/drawing/2014/main" id="{E9CE90CB-D7F7-40B5-A840-F5CEE7F2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097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Capacite d'activite moyenne</a:t>
            </a:r>
          </a:p>
        </p:txBody>
      </p:sp>
      <p:sp>
        <p:nvSpPr>
          <p:cNvPr id="10" name="row">
            <a:extLst xmlns:a="http://schemas.openxmlformats.org/drawingml/2006/main">
              <a:ext uri="{FF2B5EF4-FFF2-40B4-BE49-F238E27FC236}">
                <a16:creationId xmlns:a16="http://schemas.microsoft.com/office/drawing/2014/main" id="{A95C9D9F-959A-4D71-88DA-072C2AE5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62175"/>
            <a:ext cx="9906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data-name">
            <a:extLst xmlns:a="http://schemas.openxmlformats.org/drawingml/2006/main">
              <a:ext uri="{FF2B5EF4-FFF2-40B4-BE49-F238E27FC236}">
                <a16:creationId xmlns:a16="http://schemas.microsoft.com/office/drawing/2014/main" id="{86EF7736-0F8B-436F-81BC-AA4BC2AE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955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Charges mensuelles</a:t>
            </a:r>
          </a:p>
        </p:txBody>
      </p:sp>
      <p:sp>
        <p:nvSpPr>
          <p:cNvPr id="12" name="data-why">
            <a:extLst xmlns:a="http://schemas.openxmlformats.org/drawingml/2006/main">
              <a:ext uri="{FF2B5EF4-FFF2-40B4-BE49-F238E27FC236}">
                <a16:creationId xmlns:a16="http://schemas.microsoft.com/office/drawing/2014/main" id="{D6893FA7-E473-4FAE-BFC8-F4B7F3CF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955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Base du besoin de trésorerie</a:t>
            </a:r>
          </a:p>
        </p:txBody>
      </p:sp>
      <p:sp>
        <p:nvSpPr>
          <p:cNvPr id="13" name="row">
            <a:extLst xmlns:a="http://schemas.openxmlformats.org/drawingml/2006/main">
              <a:ext uri="{FF2B5EF4-FFF2-40B4-BE49-F238E27FC236}">
                <a16:creationId xmlns:a16="http://schemas.microsoft.com/office/drawing/2014/main" id="{73DBC34B-D0C0-40B6-B0F7-CCD85FB70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47975"/>
            <a:ext cx="9906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data-name">
            <a:extLst xmlns:a="http://schemas.openxmlformats.org/drawingml/2006/main">
              <a:ext uri="{FF2B5EF4-FFF2-40B4-BE49-F238E27FC236}">
                <a16:creationId xmlns:a16="http://schemas.microsoft.com/office/drawing/2014/main" id="{35604320-B66F-46DB-ADC8-5E185ECC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813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Trésorerie disponible</a:t>
            </a:r>
          </a:p>
        </p:txBody>
      </p:sp>
      <p:sp>
        <p:nvSpPr>
          <p:cNvPr id="15" name="data-why">
            <a:extLst xmlns:a="http://schemas.openxmlformats.org/drawingml/2006/main">
              <a:ext uri="{FF2B5EF4-FFF2-40B4-BE49-F238E27FC236}">
                <a16:creationId xmlns:a16="http://schemas.microsoft.com/office/drawing/2014/main" id="{05C6E3F0-8DCB-479C-8DF4-7BBDDAB3E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813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Liquidité en banque</a:t>
            </a:r>
          </a:p>
        </p:txBody>
      </p:sp>
      <p:sp>
        <p:nvSpPr>
          <p:cNvPr id="16" name="row">
            <a:extLst xmlns:a="http://schemas.openxmlformats.org/drawingml/2006/main">
              <a:ext uri="{FF2B5EF4-FFF2-40B4-BE49-F238E27FC236}">
                <a16:creationId xmlns:a16="http://schemas.microsoft.com/office/drawing/2014/main" id="{EC6108B6-6F31-4CCB-BD68-DC6C022F9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33775"/>
            <a:ext cx="9906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data-name">
            <a:extLst xmlns:a="http://schemas.openxmlformats.org/drawingml/2006/main">
              <a:ext uri="{FF2B5EF4-FFF2-40B4-BE49-F238E27FC236}">
                <a16:creationId xmlns:a16="http://schemas.microsoft.com/office/drawing/2014/main" id="{6F004253-A73F-4F27-BF50-6A91307B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671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Solde du compte courant</a:t>
            </a:r>
          </a:p>
        </p:txBody>
      </p:sp>
      <p:sp>
        <p:nvSpPr>
          <p:cNvPr id="18" name="data-why">
            <a:extLst xmlns:a="http://schemas.openxmlformats.org/drawingml/2006/main">
              <a:ext uri="{FF2B5EF4-FFF2-40B4-BE49-F238E27FC236}">
                <a16:creationId xmlns:a16="http://schemas.microsoft.com/office/drawing/2014/main" id="{D5FA3653-FA87-418C-850A-CE8905EA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671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Risque debiteur dirigeant</a:t>
            </a:r>
          </a:p>
        </p:txBody>
      </p:sp>
      <p:sp>
        <p:nvSpPr>
          <p:cNvPr id="19" name="row">
            <a:extLst xmlns:a="http://schemas.openxmlformats.org/drawingml/2006/main">
              <a:ext uri="{FF2B5EF4-FFF2-40B4-BE49-F238E27FC236}">
                <a16:creationId xmlns:a16="http://schemas.microsoft.com/office/drawing/2014/main" id="{60DFA05E-9ABE-4EBE-9722-B5815341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19575"/>
            <a:ext cx="99060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data-name">
            <a:extLst xmlns:a="http://schemas.openxmlformats.org/drawingml/2006/main">
              <a:ext uri="{FF2B5EF4-FFF2-40B4-BE49-F238E27FC236}">
                <a16:creationId xmlns:a16="http://schemas.microsoft.com/office/drawing/2014/main" id="{2FAF6987-A7D5-41E3-B667-0CE10978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529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Montant souhaité</a:t>
            </a:r>
          </a:p>
        </p:txBody>
      </p:sp>
      <p:sp>
        <p:nvSpPr>
          <p:cNvPr id="21" name="data-why">
            <a:extLst xmlns:a="http://schemas.openxmlformats.org/drawingml/2006/main">
              <a:ext uri="{FF2B5EF4-FFF2-40B4-BE49-F238E27FC236}">
                <a16:creationId xmlns:a16="http://schemas.microsoft.com/office/drawing/2014/main" id="{4F8D44B2-2E36-430F-B1C5-1587287E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5292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64748B"/>
                </a:solidFill>
                <a:latin typeface="Aptos"/>
                <a:ea typeface="Aptos"/>
                <a:cs typeface="Aptos"/>
              </a:rPr>
              <a:t>Retrait demandé par le dirigeant</a:t>
            </a:r>
          </a:p>
        </p:txBody>
      </p:sp>
    </p:spTree>
    <p:extLst>
      <p:ext uri="{BB962C8B-B14F-4D97-AF65-F5344CB8AC3E}">
        <p14:creationId xmlns:p14="http://schemas.microsoft.com/office/powerpoint/2010/main" val="20377731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995F1B67-EC47-4817-8EAC-3287086D4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C47CF9AF-F5B0-48D3-8A9A-9D08433F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07 - Calculs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1CC467-A5DA-4C58-9E82-C004B5A1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Les quatre indicateurs techniques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B5A50946-2C13-4F67-AB12-49D7A6C5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3F9068F6-B8DC-4F3B-8E58-C90BBE35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A3F68B1-8809-4BBE-8440-94C262AAF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8/18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CA1173A5-166C-4D11-B659-1690EE51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2048256-602E-49BE-8CAC-C48CECCF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51FF0B8C-1CCA-49CF-BE30-2B8E9C86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95450"/>
            <a:ext cx="4695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1. Couverture de trésorerie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8D429DA3-4964-4DC7-9EDB-BB92AA0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76450"/>
            <a:ext cx="46958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trésorerie / charges mensuelles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EC3DE780-6B0A-48EF-84FF-7F9B06117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09FE2636-F918-4468-881F-E3918E3F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524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A1B05C19-0DE9-4142-85BE-0DCEFDFF1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4695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2. Ratio CA / charges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D0C75F08-7A1D-4697-B402-6841707C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76450"/>
            <a:ext cx="46958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chiffre d'affaires mensuel / charges mensuelles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D97E2805-B2CA-44CE-B63D-BF215EE9B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6A3C3224-84DF-4692-A943-6E043F97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">
            <a:extLst xmlns:a="http://schemas.openxmlformats.org/drawingml/2006/main">
              <a:ext uri="{FF2B5EF4-FFF2-40B4-BE49-F238E27FC236}">
                <a16:creationId xmlns:a16="http://schemas.microsoft.com/office/drawing/2014/main" id="{94C82A05-8717-4D1B-9E5F-5F4557F95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00450"/>
            <a:ext cx="4695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3. Durée compte courant débiteur</a:t>
            </a:r>
          </a:p>
        </p:txBody>
      </p:sp>
      <p:sp>
        <p:nvSpPr>
          <p:cNvPr id="18" name="card-body">
            <a:extLst xmlns:a="http://schemas.openxmlformats.org/drawingml/2006/main">
              <a:ext uri="{FF2B5EF4-FFF2-40B4-BE49-F238E27FC236}">
                <a16:creationId xmlns:a16="http://schemas.microsoft.com/office/drawing/2014/main" id="{06D2594D-1204-4892-B812-4FFBCC575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81450"/>
            <a:ext cx="46958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nombre de jours avec solde dirigeant négatif</a:t>
            </a:r>
          </a:p>
        </p:txBody>
      </p:sp>
      <p:sp>
        <p:nvSpPr>
          <p:cNvPr id="19" name="card">
            <a:extLst xmlns:a="http://schemas.openxmlformats.org/drawingml/2006/main">
              <a:ext uri="{FF2B5EF4-FFF2-40B4-BE49-F238E27FC236}">
                <a16:creationId xmlns:a16="http://schemas.microsoft.com/office/drawing/2014/main" id="{C1B500ED-B1E7-4A54-860E-36F7B4DD9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5095875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card-accent">
            <a:extLst xmlns:a="http://schemas.openxmlformats.org/drawingml/2006/main">
              <a:ext uri="{FF2B5EF4-FFF2-40B4-BE49-F238E27FC236}">
                <a16:creationId xmlns:a16="http://schemas.microsoft.com/office/drawing/2014/main" id="{3D0D2669-EC29-406F-B390-5EC6989D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29000"/>
            <a:ext cx="571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ard-title">
            <a:extLst xmlns:a="http://schemas.openxmlformats.org/drawingml/2006/main">
              <a:ext uri="{FF2B5EF4-FFF2-40B4-BE49-F238E27FC236}">
                <a16:creationId xmlns:a16="http://schemas.microsoft.com/office/drawing/2014/main" id="{0F033C3F-01BD-4F48-B920-A48892C64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00450"/>
            <a:ext cx="46958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4. Montant maximum prélevable</a:t>
            </a:r>
          </a:p>
        </p:txBody>
      </p:sp>
      <p:sp>
        <p:nvSpPr>
          <p:cNvPr id="22" name="card-body">
            <a:extLst xmlns:a="http://schemas.openxmlformats.org/drawingml/2006/main">
              <a:ext uri="{FF2B5EF4-FFF2-40B4-BE49-F238E27FC236}">
                <a16:creationId xmlns:a16="http://schemas.microsoft.com/office/drawing/2014/main" id="{82F69267-1904-463C-869A-722545CC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81450"/>
            <a:ext cx="46958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trésorerie - reserve de sécurité de 3 mois</a:t>
            </a:r>
          </a:p>
        </p:txBody>
      </p:sp>
    </p:spTree>
    <p:extLst>
      <p:ext uri="{BB962C8B-B14F-4D97-AF65-F5344CB8AC3E}">
        <p14:creationId xmlns:p14="http://schemas.microsoft.com/office/powerpoint/2010/main" val="2026590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006A871-E706-4350-B032-8DD84D88E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88C7E6B9-10AD-40E8-81BA-E5B043DA0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08 - Exemple chiffre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DE04B4-66EC-46DA-8B43-B502760F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Exemple de calcul explique au jury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38572130-ABF2-43C1-A15E-58E113D9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1F1D45C1-A163-43DE-A190-0FD0BE403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0BD0B98-592C-428E-AB03-0924DDC8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9/18</a:t>
            </a:r>
          </a:p>
        </p:txBody>
      </p:sp>
      <p:sp>
        <p:nvSpPr>
          <p:cNvPr id="7" name="data">
            <a:extLst xmlns:a="http://schemas.openxmlformats.org/drawingml/2006/main">
              <a:ext uri="{FF2B5EF4-FFF2-40B4-BE49-F238E27FC236}">
                <a16:creationId xmlns:a16="http://schemas.microsoft.com/office/drawing/2014/main" id="{46CBEFA4-E047-4D03-8B42-873C8C9C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Données : CA 10 000 EUR - charges 2 000 EUR - trésorerie 7 500 EUR - retrait demande 2 000 EUR</a:t>
            </a:r>
          </a:p>
        </p:txBody>
      </p:sp>
      <p:sp>
        <p:nvSpPr>
          <p:cNvPr id="8" name="card">
            <a:extLst xmlns:a="http://schemas.openxmlformats.org/drawingml/2006/main">
              <a:ext uri="{FF2B5EF4-FFF2-40B4-BE49-F238E27FC236}">
                <a16:creationId xmlns:a16="http://schemas.microsoft.com/office/drawing/2014/main" id="{AE62608A-936C-42B5-95F5-1D4451C0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DC1905D-59ED-4A69-BAD3-A01E62CB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571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title">
            <a:extLst xmlns:a="http://schemas.openxmlformats.org/drawingml/2006/main">
              <a:ext uri="{FF2B5EF4-FFF2-40B4-BE49-F238E27FC236}">
                <a16:creationId xmlns:a16="http://schemas.microsoft.com/office/drawing/2014/main" id="{58BDCAFA-5CA7-4FE6-9159-9270282F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6695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Trésorerie</a:t>
            </a:r>
          </a:p>
        </p:txBody>
      </p:sp>
      <p:sp>
        <p:nvSpPr>
          <p:cNvPr id="11" name="card-body">
            <a:extLst xmlns:a="http://schemas.openxmlformats.org/drawingml/2006/main">
              <a:ext uri="{FF2B5EF4-FFF2-40B4-BE49-F238E27FC236}">
                <a16:creationId xmlns:a16="http://schemas.microsoft.com/office/drawing/2014/main" id="{758B0312-1515-49A4-8671-8721EC502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47950"/>
            <a:ext cx="28384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7 500 / 2 000 = 3,75 mois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=&gt; VERT</a:t>
            </a:r>
          </a:p>
        </p:txBody>
      </p:sp>
      <p:sp>
        <p:nvSpPr>
          <p:cNvPr id="12" name="card">
            <a:extLst xmlns:a="http://schemas.openxmlformats.org/drawingml/2006/main">
              <a:ext uri="{FF2B5EF4-FFF2-40B4-BE49-F238E27FC236}">
                <a16:creationId xmlns:a16="http://schemas.microsoft.com/office/drawing/2014/main" id="{4844113B-F854-46E2-9AFB-EBAB514A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card-accent">
            <a:extLst xmlns:a="http://schemas.openxmlformats.org/drawingml/2006/main">
              <a:ext uri="{FF2B5EF4-FFF2-40B4-BE49-F238E27FC236}">
                <a16:creationId xmlns:a16="http://schemas.microsoft.com/office/drawing/2014/main" id="{E6D0561A-88EF-41D7-A3C1-624261E0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571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ard-title">
            <a:extLst xmlns:a="http://schemas.openxmlformats.org/drawingml/2006/main">
              <a:ext uri="{FF2B5EF4-FFF2-40B4-BE49-F238E27FC236}">
                <a16:creationId xmlns:a16="http://schemas.microsoft.com/office/drawing/2014/main" id="{D5E1184A-23A2-4F31-AA2F-D3D78A123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Ratio CA/charges</a:t>
            </a:r>
          </a:p>
        </p:txBody>
      </p:sp>
      <p:sp>
        <p:nvSpPr>
          <p:cNvPr id="15" name="card-body">
            <a:extLst xmlns:a="http://schemas.openxmlformats.org/drawingml/2006/main">
              <a:ext uri="{FF2B5EF4-FFF2-40B4-BE49-F238E27FC236}">
                <a16:creationId xmlns:a16="http://schemas.microsoft.com/office/drawing/2014/main" id="{228CDED0-F6FC-4343-B3A9-F6EE6164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47950"/>
            <a:ext cx="28384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10 000 / 2 000 = 5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=&gt; VERT</a:t>
            </a:r>
          </a:p>
        </p:txBody>
      </p:sp>
      <p:sp>
        <p:nvSpPr>
          <p:cNvPr id="16" name="card">
            <a:extLst xmlns:a="http://schemas.openxmlformats.org/drawingml/2006/main">
              <a:ext uri="{FF2B5EF4-FFF2-40B4-BE49-F238E27FC236}">
                <a16:creationId xmlns:a16="http://schemas.microsoft.com/office/drawing/2014/main" id="{9F680645-607C-45F9-9F18-947F23344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3238500" cy="1571625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08B5C00-B32C-4808-ADE6-82855150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95500"/>
            <a:ext cx="5715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ard-title">
            <a:extLst xmlns:a="http://schemas.openxmlformats.org/drawingml/2006/main">
              <a:ext uri="{FF2B5EF4-FFF2-40B4-BE49-F238E27FC236}">
                <a16:creationId xmlns:a16="http://schemas.microsoft.com/office/drawing/2014/main" id="{BA58C571-3E6A-4A4C-BD36-A8EBCF59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66950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Montant max</a:t>
            </a:r>
          </a:p>
        </p:txBody>
      </p:sp>
      <p:sp>
        <p:nvSpPr>
          <p:cNvPr id="19" name="card-body">
            <a:extLst xmlns:a="http://schemas.openxmlformats.org/drawingml/2006/main">
              <a:ext uri="{FF2B5EF4-FFF2-40B4-BE49-F238E27FC236}">
                <a16:creationId xmlns:a16="http://schemas.microsoft.com/office/drawing/2014/main" id="{03E6BC7C-2B28-4842-A996-41B7CDF2F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47950"/>
            <a:ext cx="283845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7 500 - (2 000 x 3) = 1 500 EUR</a:t>
            </a:r>
          </a:p>
        </p:txBody>
      </p:sp>
      <p:sp>
        <p:nvSpPr>
          <p:cNvPr id="20" name="result">
            <a:extLst xmlns:a="http://schemas.openxmlformats.org/drawingml/2006/main">
              <a:ext uri="{FF2B5EF4-FFF2-40B4-BE49-F238E27FC236}">
                <a16:creationId xmlns:a16="http://schemas.microsoft.com/office/drawing/2014/main" id="{4353B908-A6E7-416D-B75D-12D7753E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952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Le retrait demande est de 2 000 EUR alors que le maximum calculé est 1 500 EUR : le critère montant devient ROUGE.</a:t>
            </a:r>
          </a:p>
        </p:txBody>
      </p:sp>
    </p:spTree>
    <p:extLst>
      <p:ext uri="{BB962C8B-B14F-4D97-AF65-F5344CB8AC3E}">
        <p14:creationId xmlns:p14="http://schemas.microsoft.com/office/powerpoint/2010/main" val="13662638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2497B30-FFB0-489A-A37A-E00D90CC7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D403013-8E4A-4CC3-B445-89C5EE53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09 - Grille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00175A-313D-4270-BDD7-19A0FCB0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Grille tricolore et décision globale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D85A13D-03AC-4E5C-80E0-9BDAF3C4D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A63CBED6-D8E5-4F5D-BF2A-28E8A740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B2959C0-DABE-4A20-951C-34F7154EB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10/18</a:t>
            </a:r>
          </a:p>
        </p:txBody>
      </p:sp>
      <p:sp>
        <p:nvSpPr>
          <p:cNvPr id="7" name="head">
            <a:extLst xmlns:a="http://schemas.openxmlformats.org/drawingml/2006/main">
              <a:ext uri="{FF2B5EF4-FFF2-40B4-BE49-F238E27FC236}">
                <a16:creationId xmlns:a16="http://schemas.microsoft.com/office/drawing/2014/main" id="{09D7821B-25E4-41E9-AABC-4C7C28958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Critere</a:t>
            </a:r>
          </a:p>
        </p:txBody>
      </p:sp>
      <p:sp>
        <p:nvSpPr>
          <p:cNvPr id="8" name="head">
            <a:extLst xmlns:a="http://schemas.openxmlformats.org/drawingml/2006/main">
              <a:ext uri="{FF2B5EF4-FFF2-40B4-BE49-F238E27FC236}">
                <a16:creationId xmlns:a16="http://schemas.microsoft.com/office/drawing/2014/main" id="{E62466DD-7536-4C79-95A6-E92F2222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476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VERT</a:t>
            </a:r>
          </a:p>
        </p:txBody>
      </p:sp>
      <p:sp>
        <p:nvSpPr>
          <p:cNvPr id="9" name="head">
            <a:extLst xmlns:a="http://schemas.openxmlformats.org/drawingml/2006/main">
              <a:ext uri="{FF2B5EF4-FFF2-40B4-BE49-F238E27FC236}">
                <a16:creationId xmlns:a16="http://schemas.microsoft.com/office/drawing/2014/main" id="{636D16C8-FABB-4F4F-9C90-E52516FD7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476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9E0B"/>
                </a:solidFill>
                <a:latin typeface="Aptos"/>
                <a:ea typeface="Aptos"/>
                <a:cs typeface="Aptos"/>
              </a:rPr>
              <a:t>ORANGE</a:t>
            </a:r>
          </a:p>
        </p:txBody>
      </p:sp>
      <p:sp>
        <p:nvSpPr>
          <p:cNvPr id="10" name="head">
            <a:extLst xmlns:a="http://schemas.openxmlformats.org/drawingml/2006/main">
              <a:ext uri="{FF2B5EF4-FFF2-40B4-BE49-F238E27FC236}">
                <a16:creationId xmlns:a16="http://schemas.microsoft.com/office/drawing/2014/main" id="{400F2A55-813F-40DF-9165-8F29BD9FE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C2626"/>
                </a:solidFill>
                <a:latin typeface="Aptos"/>
                <a:ea typeface="Aptos"/>
                <a:cs typeface="Aptos"/>
              </a:rPr>
              <a:t>ROUGE</a:t>
            </a:r>
          </a:p>
        </p:txBody>
      </p:sp>
      <p:sp>
        <p:nvSpPr>
          <p:cNvPr id="11" name="head">
            <a:extLst xmlns:a="http://schemas.openxmlformats.org/drawingml/2006/main">
              <a:ext uri="{FF2B5EF4-FFF2-40B4-BE49-F238E27FC236}">
                <a16:creationId xmlns:a16="http://schemas.microsoft.com/office/drawing/2014/main" id="{3988549D-21D0-4F72-90B0-F3FF46B10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476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Sens</a:t>
            </a:r>
          </a:p>
        </p:txBody>
      </p:sp>
      <p:sp>
        <p:nvSpPr>
          <p:cNvPr id="12" name="row-bg">
            <a:extLst xmlns:a="http://schemas.openxmlformats.org/drawingml/2006/main">
              <a:ext uri="{FF2B5EF4-FFF2-40B4-BE49-F238E27FC236}">
                <a16:creationId xmlns:a16="http://schemas.microsoft.com/office/drawing/2014/main" id="{48391B54-2EDE-4291-B14C-BEEEB163A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0953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3" name="cell">
            <a:extLst xmlns:a="http://schemas.openxmlformats.org/drawingml/2006/main">
              <a:ext uri="{FF2B5EF4-FFF2-40B4-BE49-F238E27FC236}">
                <a16:creationId xmlns:a16="http://schemas.microsoft.com/office/drawing/2014/main" id="{EB924313-F0F7-4831-9B6C-444049F9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Trésorerie</a:t>
            </a:r>
          </a:p>
        </p:txBody>
      </p:sp>
      <p:sp>
        <p:nvSpPr>
          <p:cNvPr id="14" name="cell">
            <a:extLst xmlns:a="http://schemas.openxmlformats.org/drawingml/2006/main">
              <a:ext uri="{FF2B5EF4-FFF2-40B4-BE49-F238E27FC236}">
                <a16:creationId xmlns:a16="http://schemas.microsoft.com/office/drawing/2014/main" id="{8AEB53BA-1258-434C-8878-1B6E0ED63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&gt;= 3 mois</a:t>
            </a:r>
          </a:p>
        </p:txBody>
      </p:sp>
      <p:sp>
        <p:nvSpPr>
          <p:cNvPr id="15" name="cell">
            <a:extLst xmlns:a="http://schemas.openxmlformats.org/drawingml/2006/main">
              <a:ext uri="{FF2B5EF4-FFF2-40B4-BE49-F238E27FC236}">
                <a16:creationId xmlns:a16="http://schemas.microsoft.com/office/drawing/2014/main" id="{19B61B15-E7A1-4C36-B597-17A845C5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3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1 à 3 mois</a:t>
            </a:r>
          </a:p>
        </p:txBody>
      </p:sp>
      <p:sp>
        <p:nvSpPr>
          <p:cNvPr id="16" name="cell">
            <a:extLst xmlns:a="http://schemas.openxmlformats.org/drawingml/2006/main">
              <a:ext uri="{FF2B5EF4-FFF2-40B4-BE49-F238E27FC236}">
                <a16:creationId xmlns:a16="http://schemas.microsoft.com/office/drawing/2014/main" id="{53986C90-878D-4AF0-A641-081E5264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2626"/>
                </a:solidFill>
                <a:latin typeface="Aptos"/>
                <a:ea typeface="Aptos"/>
                <a:cs typeface="Aptos"/>
              </a:rPr>
              <a:t>&lt; 1 mois</a:t>
            </a:r>
          </a:p>
        </p:txBody>
      </p:sp>
      <p:sp>
        <p:nvSpPr>
          <p:cNvPr id="17" name="cell">
            <a:extLst xmlns:a="http://schemas.openxmlformats.org/drawingml/2006/main">
              <a:ext uri="{FF2B5EF4-FFF2-40B4-BE49-F238E27FC236}">
                <a16:creationId xmlns:a16="http://schemas.microsoft.com/office/drawing/2014/main" id="{8F902500-6BF8-4A70-B37F-016F6308E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0383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Réserve</a:t>
            </a:r>
          </a:p>
        </p:txBody>
      </p:sp>
      <p:sp>
        <p:nvSpPr>
          <p:cNvPr id="18" name="row-bg">
            <a:extLst xmlns:a="http://schemas.openxmlformats.org/drawingml/2006/main">
              <a:ext uri="{FF2B5EF4-FFF2-40B4-BE49-F238E27FC236}">
                <a16:creationId xmlns:a16="http://schemas.microsoft.com/office/drawing/2014/main" id="{1CE09D38-F406-4914-84DB-43300C3BC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0953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9" name="cell">
            <a:extLst xmlns:a="http://schemas.openxmlformats.org/drawingml/2006/main">
              <a:ext uri="{FF2B5EF4-FFF2-40B4-BE49-F238E27FC236}">
                <a16:creationId xmlns:a16="http://schemas.microsoft.com/office/drawing/2014/main" id="{14E79975-7A03-4F2B-8B72-40699618C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CA / charges</a:t>
            </a:r>
          </a:p>
        </p:txBody>
      </p:sp>
      <p:sp>
        <p:nvSpPr>
          <p:cNvPr id="20" name="cell">
            <a:extLst xmlns:a="http://schemas.openxmlformats.org/drawingml/2006/main">
              <a:ext uri="{FF2B5EF4-FFF2-40B4-BE49-F238E27FC236}">
                <a16:creationId xmlns:a16="http://schemas.microsoft.com/office/drawing/2014/main" id="{D590796F-F010-4A66-84CB-5E6C28C9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05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A34A"/>
                </a:solidFill>
                <a:latin typeface="Aptos"/>
                <a:ea typeface="Aptos"/>
                <a:cs typeface="Aptos"/>
              </a:rPr>
              <a:t>&gt;= 1,3</a:t>
            </a:r>
          </a:p>
        </p:txBody>
      </p:sp>
      <p:sp>
        <p:nvSpPr>
          <p:cNvPr id="21" name="cell">
            <a:extLst xmlns:a="http://schemas.openxmlformats.org/drawingml/2006/main">
              <a:ext uri="{FF2B5EF4-FFF2-40B4-BE49-F238E27FC236}">
                <a16:creationId xmlns:a16="http://schemas.microsoft.com/office/drawing/2014/main" id="{95D45FE5-BC71-4CBA-8607-2DC7C787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05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1,0 a 1,3</a:t>
            </a:r>
          </a:p>
        </p:txBody>
      </p:sp>
      <p:sp>
        <p:nvSpPr>
          <p:cNvPr id="22" name="cell">
            <a:extLst xmlns:a="http://schemas.openxmlformats.org/drawingml/2006/main">
              <a:ext uri="{FF2B5EF4-FFF2-40B4-BE49-F238E27FC236}">
                <a16:creationId xmlns:a16="http://schemas.microsoft.com/office/drawing/2014/main" id="{1EC8579A-051B-4633-A72C-7F7CEF5CC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705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2626"/>
                </a:solidFill>
                <a:latin typeface="Aptos"/>
                <a:ea typeface="Aptos"/>
                <a:cs typeface="Aptos"/>
              </a:rPr>
              <a:t>&lt; 1,0</a:t>
            </a:r>
          </a:p>
        </p:txBody>
      </p:sp>
      <p:sp>
        <p:nvSpPr>
          <p:cNvPr id="23" name="cell">
            <a:extLst xmlns:a="http://schemas.openxmlformats.org/drawingml/2006/main">
              <a:ext uri="{FF2B5EF4-FFF2-40B4-BE49-F238E27FC236}">
                <a16:creationId xmlns:a16="http://schemas.microsoft.com/office/drawing/2014/main" id="{411E50B7-E2FA-4756-B890-A6E351D6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7051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Rentabilite</a:t>
            </a:r>
          </a:p>
        </p:txBody>
      </p:sp>
      <p:sp>
        <p:nvSpPr>
          <p:cNvPr id="24" name="row-bg">
            <a:extLst xmlns:a="http://schemas.openxmlformats.org/drawingml/2006/main">
              <a:ext uri="{FF2B5EF4-FFF2-40B4-BE49-F238E27FC236}">
                <a16:creationId xmlns:a16="http://schemas.microsoft.com/office/drawing/2014/main" id="{7541A688-B582-41FA-BB92-DE35232FC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0953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5" name="cell">
            <a:extLst xmlns:a="http://schemas.openxmlformats.org/drawingml/2006/main">
              <a:ext uri="{FF2B5EF4-FFF2-40B4-BE49-F238E27FC236}">
                <a16:creationId xmlns:a16="http://schemas.microsoft.com/office/drawing/2014/main" id="{E7795BDB-D4BA-455C-A792-C66F491E2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718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Compte courant</a:t>
            </a:r>
          </a:p>
        </p:txBody>
      </p:sp>
      <p:sp>
        <p:nvSpPr>
          <p:cNvPr id="26" name="cell">
            <a:extLst xmlns:a="http://schemas.openxmlformats.org/drawingml/2006/main">
              <a:ext uri="{FF2B5EF4-FFF2-40B4-BE49-F238E27FC236}">
                <a16:creationId xmlns:a16="http://schemas.microsoft.com/office/drawing/2014/main" id="{5C0A230C-23BF-4BEA-B39A-DF4A71AE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A34A"/>
                </a:solidFill>
                <a:latin typeface="Aptos"/>
                <a:ea typeface="Aptos"/>
                <a:cs typeface="Aptos"/>
              </a:rPr>
              <a:t>0 jour</a:t>
            </a:r>
          </a:p>
        </p:txBody>
      </p:sp>
      <p:sp>
        <p:nvSpPr>
          <p:cNvPr id="27" name="cell">
            <a:extLst xmlns:a="http://schemas.openxmlformats.org/drawingml/2006/main">
              <a:ext uri="{FF2B5EF4-FFF2-40B4-BE49-F238E27FC236}">
                <a16:creationId xmlns:a16="http://schemas.microsoft.com/office/drawing/2014/main" id="{35A95A9B-23BF-43EF-BF0A-E3E36057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1 a 30 j</a:t>
            </a:r>
          </a:p>
        </p:txBody>
      </p:sp>
      <p:sp>
        <p:nvSpPr>
          <p:cNvPr id="28" name="cell">
            <a:extLst xmlns:a="http://schemas.openxmlformats.org/drawingml/2006/main">
              <a:ext uri="{FF2B5EF4-FFF2-40B4-BE49-F238E27FC236}">
                <a16:creationId xmlns:a16="http://schemas.microsoft.com/office/drawing/2014/main" id="{910CA489-BA9C-447C-8216-C57B79A7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2626"/>
                </a:solidFill>
                <a:latin typeface="Aptos"/>
                <a:ea typeface="Aptos"/>
                <a:cs typeface="Aptos"/>
              </a:rPr>
              <a:t>&gt; 30 j</a:t>
            </a:r>
          </a:p>
        </p:txBody>
      </p:sp>
      <p:sp>
        <p:nvSpPr>
          <p:cNvPr id="29" name="cell">
            <a:extLst xmlns:a="http://schemas.openxmlformats.org/drawingml/2006/main">
              <a:ext uri="{FF2B5EF4-FFF2-40B4-BE49-F238E27FC236}">
                <a16:creationId xmlns:a16="http://schemas.microsoft.com/office/drawing/2014/main" id="{DDDCB971-D830-48CB-9799-3BFF0A468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Risque</a:t>
            </a:r>
          </a:p>
        </p:txBody>
      </p:sp>
      <p:sp>
        <p:nvSpPr>
          <p:cNvPr id="30" name="row-bg">
            <a:extLst xmlns:a="http://schemas.openxmlformats.org/drawingml/2006/main">
              <a:ext uri="{FF2B5EF4-FFF2-40B4-BE49-F238E27FC236}">
                <a16:creationId xmlns:a16="http://schemas.microsoft.com/office/drawing/2014/main" id="{A1576C46-BC83-4059-8E09-D557888F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109537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31" name="cell">
            <a:extLst xmlns:a="http://schemas.openxmlformats.org/drawingml/2006/main">
              <a:ext uri="{FF2B5EF4-FFF2-40B4-BE49-F238E27FC236}">
                <a16:creationId xmlns:a16="http://schemas.microsoft.com/office/drawing/2014/main" id="{78F6EF75-B1CF-4BF6-B862-AE96F7ED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386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Montant</a:t>
            </a:r>
          </a:p>
        </p:txBody>
      </p:sp>
      <p:sp>
        <p:nvSpPr>
          <p:cNvPr id="32" name="cell">
            <a:extLst xmlns:a="http://schemas.openxmlformats.org/drawingml/2006/main">
              <a:ext uri="{FF2B5EF4-FFF2-40B4-BE49-F238E27FC236}">
                <a16:creationId xmlns:a16="http://schemas.microsoft.com/office/drawing/2014/main" id="{606999EF-4DA4-467A-AB7B-6CC5B919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038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A34A"/>
                </a:solidFill>
                <a:latin typeface="Aptos"/>
                <a:ea typeface="Aptos"/>
                <a:cs typeface="Aptos"/>
              </a:rPr>
              <a:t>&lt;= 75 % max</a:t>
            </a:r>
          </a:p>
        </p:txBody>
      </p:sp>
      <p:sp>
        <p:nvSpPr>
          <p:cNvPr id="33" name="cell">
            <a:extLst xmlns:a="http://schemas.openxmlformats.org/drawingml/2006/main">
              <a:ext uri="{FF2B5EF4-FFF2-40B4-BE49-F238E27FC236}">
                <a16:creationId xmlns:a16="http://schemas.microsoft.com/office/drawing/2014/main" id="{4F6752FA-22FF-4B29-AF53-CF4F69B6B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038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F59E0B"/>
                </a:solidFill>
                <a:latin typeface="Aptos"/>
                <a:ea typeface="Aptos"/>
                <a:cs typeface="Aptos"/>
              </a:rPr>
              <a:t>75-100 %</a:t>
            </a:r>
          </a:p>
        </p:txBody>
      </p:sp>
      <p:sp>
        <p:nvSpPr>
          <p:cNvPr id="34" name="cell">
            <a:extLst xmlns:a="http://schemas.openxmlformats.org/drawingml/2006/main">
              <a:ext uri="{FF2B5EF4-FFF2-40B4-BE49-F238E27FC236}">
                <a16:creationId xmlns:a16="http://schemas.microsoft.com/office/drawing/2014/main" id="{B8D29E83-8B19-4FD9-A145-A6F6883EC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C2626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DC2626"/>
                </a:solidFill>
                <a:latin typeface="Aptos"/>
                <a:ea typeface="Aptos"/>
                <a:cs typeface="Aptos"/>
              </a:rPr>
              <a:t>&gt; max</a:t>
            </a:r>
          </a:p>
        </p:txBody>
      </p:sp>
      <p:sp>
        <p:nvSpPr>
          <p:cNvPr id="35" name="cell">
            <a:extLst xmlns:a="http://schemas.openxmlformats.org/drawingml/2006/main">
              <a:ext uri="{FF2B5EF4-FFF2-40B4-BE49-F238E27FC236}">
                <a16:creationId xmlns:a16="http://schemas.microsoft.com/office/drawing/2014/main" id="{091FA722-8E5C-410F-9FA0-72325D4C0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386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Liquidité</a:t>
            </a:r>
          </a:p>
        </p:txBody>
      </p:sp>
      <p:sp>
        <p:nvSpPr>
          <p:cNvPr id="36" name="weakest">
            <a:extLst xmlns:a="http://schemas.openxmlformats.org/drawingml/2006/main">
              <a:ext uri="{FF2B5EF4-FFF2-40B4-BE49-F238E27FC236}">
                <a16:creationId xmlns:a16="http://schemas.microsoft.com/office/drawing/2014/main" id="{760E60B1-E41F-49CF-ABF4-AC6757061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981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Règle simple : si un seul indicateur est rouge, la décision globale est rouge.</a:t>
            </a:r>
          </a:p>
        </p:txBody>
      </p:sp>
    </p:spTree>
    <p:extLst>
      <p:ext uri="{BB962C8B-B14F-4D97-AF65-F5344CB8AC3E}">
        <p14:creationId xmlns:p14="http://schemas.microsoft.com/office/powerpoint/2010/main" val="6811077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411541C8-E18F-4291-95A6-686FF1D4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FBA5BF2B-197D-4BDF-B6F1-46D618B2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10 - Backend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48D74F-7B5D-4F52-8A08-C74A0E63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Architecture technique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A162547-0905-4C9C-ABF3-B8F121E87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7157D785-D359-4342-B3EE-A193F14D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9D77209-CB86-4C9A-91B9-2C04CC02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11/18</a:t>
            </a:r>
          </a:p>
        </p:txBody>
      </p:sp>
      <p:sp>
        <p:nvSpPr>
          <p:cNvPr id="7" name="arch-box">
            <a:extLst xmlns:a="http://schemas.openxmlformats.org/drawingml/2006/main">
              <a:ext uri="{FF2B5EF4-FFF2-40B4-BE49-F238E27FC236}">
                <a16:creationId xmlns:a16="http://schemas.microsoft.com/office/drawing/2014/main" id="{68BD5EFE-3667-464A-82D1-199D2307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arch-label">
            <a:extLst xmlns:a="http://schemas.openxmlformats.org/drawingml/2006/main">
              <a:ext uri="{FF2B5EF4-FFF2-40B4-BE49-F238E27FC236}">
                <a16:creationId xmlns:a16="http://schemas.microsoft.com/office/drawing/2014/main" id="{329F8E00-F715-4E7F-9913-1895BBAB7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9" name="arrow">
            <a:extLst xmlns:a="http://schemas.openxmlformats.org/drawingml/2006/main">
              <a:ext uri="{FF2B5EF4-FFF2-40B4-BE49-F238E27FC236}">
                <a16:creationId xmlns:a16="http://schemas.microsoft.com/office/drawing/2014/main" id="{F3B5956B-55DA-42C7-871A-14034268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638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0" name="arch-box">
            <a:extLst xmlns:a="http://schemas.openxmlformats.org/drawingml/2006/main">
              <a:ext uri="{FF2B5EF4-FFF2-40B4-BE49-F238E27FC236}">
                <a16:creationId xmlns:a16="http://schemas.microsoft.com/office/drawing/2014/main" id="{72B20F10-F289-463D-B13B-C16E4382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8125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1" name="arch-label">
            <a:extLst xmlns:a="http://schemas.openxmlformats.org/drawingml/2006/main">
              <a:ext uri="{FF2B5EF4-FFF2-40B4-BE49-F238E27FC236}">
                <a16:creationId xmlns:a16="http://schemas.microsoft.com/office/drawing/2014/main" id="{A4137EAB-47B1-494C-ABC7-4A3267D52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DTO / Mapper</a:t>
            </a:r>
          </a:p>
        </p:txBody>
      </p:sp>
      <p:sp>
        <p:nvSpPr>
          <p:cNvPr id="12" name="arrow">
            <a:extLst xmlns:a="http://schemas.openxmlformats.org/drawingml/2006/main">
              <a:ext uri="{FF2B5EF4-FFF2-40B4-BE49-F238E27FC236}">
                <a16:creationId xmlns:a16="http://schemas.microsoft.com/office/drawing/2014/main" id="{0696B2CD-6A2D-4A64-82B1-E926CBA05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638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3" name="arch-box">
            <a:extLst xmlns:a="http://schemas.openxmlformats.org/drawingml/2006/main">
              <a:ext uri="{FF2B5EF4-FFF2-40B4-BE49-F238E27FC236}">
                <a16:creationId xmlns:a16="http://schemas.microsoft.com/office/drawing/2014/main" id="{1F094D56-612D-43A9-8783-95C0A916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8125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081427"/>
          </a:solidFill>
          <a:ln xmlns:a="http://schemas.openxmlformats.org/drawingml/2006/main" w="9525">
            <a:solidFill>
              <a:srgbClr val="081427"/>
            </a:solidFill>
            <a:prstDash val="solid"/>
          </a:ln>
        </p:spPr>
      </p:sp>
      <p:sp>
        <p:nvSpPr>
          <p:cNvPr id="14" name="arch-label">
            <a:extLst xmlns:a="http://schemas.openxmlformats.org/drawingml/2006/main">
              <a:ext uri="{FF2B5EF4-FFF2-40B4-BE49-F238E27FC236}">
                <a16:creationId xmlns:a16="http://schemas.microsoft.com/office/drawing/2014/main" id="{6E1AAC94-2E51-4126-BA3F-22A4B7DD0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Service métier</a:t>
            </a:r>
          </a:p>
        </p:txBody>
      </p:sp>
      <p:sp>
        <p:nvSpPr>
          <p:cNvPr id="15" name="arrow">
            <a:extLst xmlns:a="http://schemas.openxmlformats.org/drawingml/2006/main">
              <a:ext uri="{FF2B5EF4-FFF2-40B4-BE49-F238E27FC236}">
                <a16:creationId xmlns:a16="http://schemas.microsoft.com/office/drawing/2014/main" id="{ADAA2613-91B3-45D6-8EE2-B075EE72A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638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6" name="arch-box">
            <a:extLst xmlns:a="http://schemas.openxmlformats.org/drawingml/2006/main">
              <a:ext uri="{FF2B5EF4-FFF2-40B4-BE49-F238E27FC236}">
                <a16:creationId xmlns:a16="http://schemas.microsoft.com/office/drawing/2014/main" id="{33260832-8A55-449F-AE07-4BD495629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8125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7" name="arch-label">
            <a:extLst xmlns:a="http://schemas.openxmlformats.org/drawingml/2006/main">
              <a:ext uri="{FF2B5EF4-FFF2-40B4-BE49-F238E27FC236}">
                <a16:creationId xmlns:a16="http://schemas.microsoft.com/office/drawing/2014/main" id="{7ED603BC-7F2D-4C6C-806E-2023E572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8" name="arrow">
            <a:extLst xmlns:a="http://schemas.openxmlformats.org/drawingml/2006/main">
              <a:ext uri="{FF2B5EF4-FFF2-40B4-BE49-F238E27FC236}">
                <a16:creationId xmlns:a16="http://schemas.microsoft.com/office/drawing/2014/main" id="{2D609D67-AE52-482C-8E40-7F245445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6384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&gt;</a:t>
            </a:r>
          </a:p>
        </p:txBody>
      </p:sp>
      <p:sp>
        <p:nvSpPr>
          <p:cNvPr id="19" name="arch-box">
            <a:extLst xmlns:a="http://schemas.openxmlformats.org/drawingml/2006/main">
              <a:ext uri="{FF2B5EF4-FFF2-40B4-BE49-F238E27FC236}">
                <a16:creationId xmlns:a16="http://schemas.microsoft.com/office/drawing/2014/main" id="{D67CD669-2DBA-411E-BC05-4FAEB576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381250"/>
            <a:ext cx="1666875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20" name="arch-label">
            <a:extLst xmlns:a="http://schemas.openxmlformats.org/drawingml/2006/main">
              <a:ext uri="{FF2B5EF4-FFF2-40B4-BE49-F238E27FC236}">
                <a16:creationId xmlns:a16="http://schemas.microsoft.com/office/drawing/2014/main" id="{4F3F9FCC-7689-450F-9FFF-7E32B0FE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479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21" name="architecture-note">
            <a:extLst xmlns:a="http://schemas.openxmlformats.org/drawingml/2006/main">
              <a:ext uri="{FF2B5EF4-FFF2-40B4-BE49-F238E27FC236}">
                <a16:creationId xmlns:a16="http://schemas.microsoft.com/office/drawing/2014/main" id="{9DD5D691-29BA-4300-A018-6BE3A1A0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9575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Le service concentre la logique financière : il évite de disperser les calculs dans les contrôleurs ou dans le frontend.</a:t>
            </a:r>
          </a:p>
        </p:txBody>
      </p:sp>
    </p:spTree>
    <p:extLst>
      <p:ext uri="{BB962C8B-B14F-4D97-AF65-F5344CB8AC3E}">
        <p14:creationId xmlns:p14="http://schemas.microsoft.com/office/powerpoint/2010/main" val="14589946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C7BA887-A99A-47FD-90D0-BB53FB4F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62089DAF-44B5-4B6D-BF38-7C2AAA9F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11 - Securite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29A86BA-BCFE-48FA-9148-B46A7CC33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Securite et separation des responsabilites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2F867872-8718-4CE2-9E09-D4027729F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60BCFD1C-3D80-4BEA-AD5A-74520F2F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E86F3E6-FF42-40EB-9B65-BF771E79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12/18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F40B05B9-473B-4D1D-A64C-CB4938CEA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118F7EE-B26E-4A51-8184-CF494009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1406D55A-06D5-417B-B705-8DB7F05CC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4307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JWT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30C24194-FA7C-4057-8967-579CEC74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38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Authentification sans session serveur et protection des endpoints.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44E93E63-7B5F-417E-B348-1CAE0ED5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39CBC88-5622-45B8-A328-48138024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FC87E7B3-0363-4F56-A72C-8F22FADD3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4307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Ownership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DEC600ED-624A-4AA9-87FB-05FE0CF2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24075"/>
            <a:ext cx="2838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Un utilisateur ne peut pas manipuler les entreprises ou analyses d'un autre compte.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ED833DC8-837A-4477-B62E-82429DD2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71625"/>
            <a:ext cx="3238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D943A5A0-E426-470C-94C3-32F700914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7162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">
            <a:extLst xmlns:a="http://schemas.openxmlformats.org/drawingml/2006/main">
              <a:ext uri="{FF2B5EF4-FFF2-40B4-BE49-F238E27FC236}">
                <a16:creationId xmlns:a16="http://schemas.microsoft.com/office/drawing/2014/main" id="{DAD99CD4-5A55-4BB6-B9D0-8BABC783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4307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8" name="card-body">
            <a:extLst xmlns:a="http://schemas.openxmlformats.org/drawingml/2006/main">
              <a:ext uri="{FF2B5EF4-FFF2-40B4-BE49-F238E27FC236}">
                <a16:creationId xmlns:a16="http://schemas.microsoft.com/office/drawing/2014/main" id="{74CC3DCF-9E58-4666-83BD-39D265FF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24075"/>
            <a:ext cx="28384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DTO, services et tests limitent les erreurs dans les flux critiques.</a:t>
            </a:r>
          </a:p>
        </p:txBody>
      </p:sp>
      <p:sp>
        <p:nvSpPr>
          <p:cNvPr id="19" name="security-note">
            <a:extLst xmlns:a="http://schemas.openxmlformats.org/drawingml/2006/main">
              <a:ext uri="{FF2B5EF4-FFF2-40B4-BE49-F238E27FC236}">
                <a16:creationId xmlns:a16="http://schemas.microsoft.com/office/drawing/2014/main" id="{C3BAECD8-DFB6-416B-B5DA-AA2065E8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9525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Point important pour la défense : la sécurité n'est pas seulement l'écran de login, c'est aussi le contrôle d'accès côté backend.</a:t>
            </a:r>
          </a:p>
        </p:txBody>
      </p:sp>
    </p:spTree>
    <p:extLst>
      <p:ext uri="{BB962C8B-B14F-4D97-AF65-F5344CB8AC3E}">
        <p14:creationId xmlns:p14="http://schemas.microsoft.com/office/powerpoint/2010/main" val="8696076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6A99ED09-ECB4-473D-A474-5F7AA7B9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E64892BA-03B8-4D75-B73C-723974317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12 - Production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E9F7CD-992D-4E59-A085-6B33C48F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Base de données et préparation production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354FF85-D9CC-425F-BB4C-1A0AF279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7CE7127D-00F0-4B8B-8831-E0725BA6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9FAE91A-2962-4CB6-8BC4-4B1E0CF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13/18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2084FBFD-039B-4ECD-899E-1CA4D5E9F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300037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2218A89-6B50-41D4-83F3-BCF0AB31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1925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A25EB815-43F5-4089-A475-5616830B6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90700"/>
            <a:ext cx="2600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C6310663-54BA-4E92-BEB7-A7EC0E780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26003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Base relationnelle pour conserver utilisateurs, entreprises, analyses et resultats.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D296D65F-F188-491D-BBE4-BF1AC90B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300037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86EA984A-72E8-4A14-B3DF-B6B536FD8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1925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777C40C6-CD92-4BBB-AE12-4BA57613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90700"/>
            <a:ext cx="2600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Flyway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728A1559-90EF-4D05-9127-E71CF7B5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71700"/>
            <a:ext cx="26003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Le schema est versionne par migrations SQL rejouables.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89A81ACA-B6CC-4FAE-9918-44633010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19250"/>
            <a:ext cx="3000375" cy="19050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9626B2D6-6B0F-4F94-8738-95DC6BDC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19250"/>
            <a:ext cx="5715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">
            <a:extLst xmlns:a="http://schemas.openxmlformats.org/drawingml/2006/main">
              <a:ext uri="{FF2B5EF4-FFF2-40B4-BE49-F238E27FC236}">
                <a16:creationId xmlns:a16="http://schemas.microsoft.com/office/drawing/2014/main" id="{6136B63D-1843-4967-8F89-B6E59B8BC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90700"/>
            <a:ext cx="2600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CI / Docker</a:t>
            </a:r>
          </a:p>
        </p:txBody>
      </p:sp>
      <p:sp>
        <p:nvSpPr>
          <p:cNvPr id="18" name="card-body">
            <a:extLst xmlns:a="http://schemas.openxmlformats.org/drawingml/2006/main">
              <a:ext uri="{FF2B5EF4-FFF2-40B4-BE49-F238E27FC236}">
                <a16:creationId xmlns:a16="http://schemas.microsoft.com/office/drawing/2014/main" id="{FD7AF9DF-5433-44F5-9298-A58668D27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71700"/>
            <a:ext cx="26003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Tests automatises et environnement local reproductible.</a:t>
            </a:r>
          </a:p>
        </p:txBody>
      </p:sp>
      <p:sp>
        <p:nvSpPr>
          <p:cNvPr id="19" name="prod-note">
            <a:extLst xmlns:a="http://schemas.openxmlformats.org/drawingml/2006/main">
              <a:ext uri="{FF2B5EF4-FFF2-40B4-BE49-F238E27FC236}">
                <a16:creationId xmlns:a16="http://schemas.microsoft.com/office/drawing/2014/main" id="{083DA30B-73D7-4A40-B2B6-2F49F7AF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815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Je ne détaille pas toute la mise en production : je montre surtout que l'application est préparée pour être configurée hors du code.</a:t>
            </a:r>
          </a:p>
        </p:txBody>
      </p:sp>
    </p:spTree>
    <p:extLst>
      <p:ext uri="{BB962C8B-B14F-4D97-AF65-F5344CB8AC3E}">
        <p14:creationId xmlns:p14="http://schemas.microsoft.com/office/powerpoint/2010/main" val="178438659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AE8CB2AD-EBEF-4DBF-95B4-D1440984B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16D69C9-E9AF-4503-B472-A3093E4CD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13 - Demo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121345D-1162-4447-B1D6-68F24A92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Demo fonctionnelle conseillee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F8251145-9BC3-4372-AD20-2595A5A8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B94A59C9-3310-4733-ABE2-858838B00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75A7A182-95EE-47ED-9A72-A7C8DC703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14/18</a:t>
            </a:r>
          </a:p>
        </p:txBody>
      </p:sp>
      <p:sp>
        <p:nvSpPr>
          <p:cNvPr id="7" name="demo-step">
            <a:extLst xmlns:a="http://schemas.openxmlformats.org/drawingml/2006/main">
              <a:ext uri="{FF2B5EF4-FFF2-40B4-BE49-F238E27FC236}">
                <a16:creationId xmlns:a16="http://schemas.microsoft.com/office/drawing/2014/main" id="{51EC284A-CD9D-42B1-B824-248515DA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1428750"/>
            <a:ext cx="8382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8" name="demo-text">
            <a:extLst xmlns:a="http://schemas.openxmlformats.org/drawingml/2006/main">
              <a:ext uri="{FF2B5EF4-FFF2-40B4-BE49-F238E27FC236}">
                <a16:creationId xmlns:a16="http://schemas.microsoft.com/office/drawing/2014/main" id="{1BA2DFED-6E61-4E0B-8E3A-1E42487C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5621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1. Connexion utilisateur</a:t>
            </a:r>
          </a:p>
        </p:txBody>
      </p:sp>
      <p:sp>
        <p:nvSpPr>
          <p:cNvPr id="9" name="demo-step">
            <a:extLst xmlns:a="http://schemas.openxmlformats.org/drawingml/2006/main">
              <a:ext uri="{FF2B5EF4-FFF2-40B4-BE49-F238E27FC236}">
                <a16:creationId xmlns:a16="http://schemas.microsoft.com/office/drawing/2014/main" id="{D9F7161B-AA32-4926-BC7C-D02AC02D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143125"/>
            <a:ext cx="8382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0" name="demo-text">
            <a:extLst xmlns:a="http://schemas.openxmlformats.org/drawingml/2006/main">
              <a:ext uri="{FF2B5EF4-FFF2-40B4-BE49-F238E27FC236}">
                <a16:creationId xmlns:a16="http://schemas.microsoft.com/office/drawing/2014/main" id="{C9525E35-097C-4417-B2D5-481B02DC8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27647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2. Création ou sélection d'une entreprise</a:t>
            </a:r>
          </a:p>
        </p:txBody>
      </p:sp>
      <p:sp>
        <p:nvSpPr>
          <p:cNvPr id="11" name="demo-step">
            <a:extLst xmlns:a="http://schemas.openxmlformats.org/drawingml/2006/main">
              <a:ext uri="{FF2B5EF4-FFF2-40B4-BE49-F238E27FC236}">
                <a16:creationId xmlns:a16="http://schemas.microsoft.com/office/drawing/2014/main" id="{A28F8877-8B62-4028-9891-08D471993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857500"/>
            <a:ext cx="8382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2" name="demo-text">
            <a:extLst xmlns:a="http://schemas.openxmlformats.org/drawingml/2006/main">
              <a:ext uri="{FF2B5EF4-FFF2-40B4-BE49-F238E27FC236}">
                <a16:creationId xmlns:a16="http://schemas.microsoft.com/office/drawing/2014/main" id="{DA9FF3BC-5D0C-4390-AAAD-C828E5AC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9908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3. Encodage des données financières</a:t>
            </a:r>
          </a:p>
        </p:txBody>
      </p:sp>
      <p:sp>
        <p:nvSpPr>
          <p:cNvPr id="13" name="demo-step">
            <a:extLst xmlns:a="http://schemas.openxmlformats.org/drawingml/2006/main">
              <a:ext uri="{FF2B5EF4-FFF2-40B4-BE49-F238E27FC236}">
                <a16:creationId xmlns:a16="http://schemas.microsoft.com/office/drawing/2014/main" id="{9F22AA04-4D66-4801-A4A9-14381F43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571875"/>
            <a:ext cx="8382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4" name="demo-text">
            <a:extLst xmlns:a="http://schemas.openxmlformats.org/drawingml/2006/main">
              <a:ext uri="{FF2B5EF4-FFF2-40B4-BE49-F238E27FC236}">
                <a16:creationId xmlns:a16="http://schemas.microsoft.com/office/drawing/2014/main" id="{95503FC7-94B7-4C93-B681-406FD5CE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705225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4. Demande de retrait</a:t>
            </a:r>
          </a:p>
        </p:txBody>
      </p:sp>
      <p:sp>
        <p:nvSpPr>
          <p:cNvPr id="15" name="demo-step">
            <a:extLst xmlns:a="http://schemas.openxmlformats.org/drawingml/2006/main">
              <a:ext uri="{FF2B5EF4-FFF2-40B4-BE49-F238E27FC236}">
                <a16:creationId xmlns:a16="http://schemas.microsoft.com/office/drawing/2014/main" id="{0D9E4BF4-9E96-41C4-99C2-C40EE3967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286250"/>
            <a:ext cx="83820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</p:sp>
      <p:sp>
        <p:nvSpPr>
          <p:cNvPr id="16" name="demo-text">
            <a:extLst xmlns:a="http://schemas.openxmlformats.org/drawingml/2006/main">
              <a:ext uri="{FF2B5EF4-FFF2-40B4-BE49-F238E27FC236}">
                <a16:creationId xmlns:a16="http://schemas.microsoft.com/office/drawing/2014/main" id="{5B89CDE8-12B1-4BAB-A57A-EA4A0511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1960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5. Lecture de la décision et des recommandations</a:t>
            </a:r>
          </a:p>
        </p:txBody>
      </p:sp>
    </p:spTree>
    <p:extLst>
      <p:ext uri="{BB962C8B-B14F-4D97-AF65-F5344CB8AC3E}">
        <p14:creationId xmlns:p14="http://schemas.microsoft.com/office/powerpoint/2010/main" val="4363070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DF96B98A-8521-4C18-AEF8-D04F8A14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9E2C27A3-1688-4A98-BD0B-928FEF203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14 - Tests demo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BE5527-5501-4C3F-9965-DB5ADF5D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Trois scenarios a tester devant le jury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CABB327E-0E31-4C98-AEAE-CD182F1BE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484B38E6-63B8-48F6-AD13-C6C431D75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0849C64-31F5-46E8-BF69-97D27C2B5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15/18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FEBD49B7-951F-439F-8F65-29C23A42A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32385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79E99E97-A47B-4DFD-9798-1F2084AB0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71625"/>
            <a:ext cx="571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BB7A39C1-BEFA-4D2A-BDA0-F709FCD68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4307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Scénario vert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542B4F11-4DBD-4887-B753-327A0653A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24075"/>
            <a:ext cx="28384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CA 50 000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Charges 30 000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Trésorerie 120 000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Retrait 10 000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9C228827-A4D3-4CEC-BF44-2F21ABFB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32385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C130D7B4-6DE1-432D-8145-3CA733652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71625"/>
            <a:ext cx="571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BF514792-9B4F-407E-BF29-83C50BF5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4307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Scénario orange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F5B1EA8C-365A-48C9-8A93-B49BBB35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24075"/>
            <a:ext cx="28384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CA 36 000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Charges 30 000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Trésorerie 60 000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Retrait 5 000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85E562CE-6720-4F67-B17D-DA45A3DA8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71625"/>
            <a:ext cx="3238500" cy="2047875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3BDB8573-2457-40C4-BB9A-83B29802E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571625"/>
            <a:ext cx="57150" cy="2047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">
            <a:extLst xmlns:a="http://schemas.openxmlformats.org/drawingml/2006/main">
              <a:ext uri="{FF2B5EF4-FFF2-40B4-BE49-F238E27FC236}">
                <a16:creationId xmlns:a16="http://schemas.microsoft.com/office/drawing/2014/main" id="{70625D36-1879-494D-8F0E-DA68C17D7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43075"/>
            <a:ext cx="2838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Scénario rouge</a:t>
            </a:r>
          </a:p>
        </p:txBody>
      </p:sp>
      <p:sp>
        <p:nvSpPr>
          <p:cNvPr id="18" name="card-body">
            <a:extLst xmlns:a="http://schemas.openxmlformats.org/drawingml/2006/main">
              <a:ext uri="{FF2B5EF4-FFF2-40B4-BE49-F238E27FC236}">
                <a16:creationId xmlns:a16="http://schemas.microsoft.com/office/drawing/2014/main" id="{AFC0E8EB-21AE-4F14-B24E-78B6FF12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24075"/>
            <a:ext cx="28384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CA 25 000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Charges 30 000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Trésorerie 20 000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Retrait 5 000</a:t>
            </a:r>
          </a:p>
        </p:txBody>
      </p:sp>
      <p:sp>
        <p:nvSpPr>
          <p:cNvPr id="19" name="test-note">
            <a:extLst xmlns:a="http://schemas.openxmlformats.org/drawingml/2006/main">
              <a:ext uri="{FF2B5EF4-FFF2-40B4-BE49-F238E27FC236}">
                <a16:creationId xmlns:a16="http://schemas.microsoft.com/office/drawing/2014/main" id="{FB251B81-9BD4-4A0D-8EA3-07FD3254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9525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Ces trois cas montrent que le systeme ne donne pas toujours la meme couleur : il reagit aux montants et aux ratios.</a:t>
            </a:r>
          </a:p>
        </p:txBody>
      </p:sp>
    </p:spTree>
    <p:extLst>
      <p:ext uri="{BB962C8B-B14F-4D97-AF65-F5344CB8AC3E}">
        <p14:creationId xmlns:p14="http://schemas.microsoft.com/office/powerpoint/2010/main" val="13126411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79BFEA4F-515A-4E59-B47D-A1EE3F7BE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B4690F48-3B10-4675-B282-AC09BAE5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15 - Validation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5D8ADF4-69C0-4DE5-8E4B-39CE34C7B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Qualite logicielle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E631C8BC-1794-4A9C-94E4-715B9070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518138BE-0C9E-47FB-8CD0-8116271E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C031D734-EDB8-44F6-B317-A2A3AE921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16/18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D8D04382-6570-4221-BFFD-D9031C532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30003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501BC281-BE61-4FF5-9DEC-B2AC6BEBE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BE734EE0-1CE6-4FDD-9FC4-00AB92EB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43075"/>
            <a:ext cx="2600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Tests backend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83852B04-A2A6-4030-AEF7-5A692C236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24075"/>
            <a:ext cx="2600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Tests unitaires et integration Spring Boot sur les services et contrôleurs.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93B0CD4C-AC61-4D58-BD3B-1DD6128D1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30003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C1E0059-7626-4825-8CB0-F701426D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A5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122E8C0D-A70F-485E-A334-4C51AD38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743075"/>
            <a:ext cx="2600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Build frontend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992DC181-AFE9-4AFD-88A7-2D6829A9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24075"/>
            <a:ext cx="2600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Verification TypeScript et build Vite avant livraison.</a:t>
            </a:r>
          </a:p>
        </p:txBody>
      </p:sp>
      <p:sp>
        <p:nvSpPr>
          <p:cNvPr id="15" name="card">
            <a:extLst xmlns:a="http://schemas.openxmlformats.org/drawingml/2006/main">
              <a:ext uri="{FF2B5EF4-FFF2-40B4-BE49-F238E27FC236}">
                <a16:creationId xmlns:a16="http://schemas.microsoft.com/office/drawing/2014/main" id="{708B846D-FB2F-421A-996F-48E84E15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300037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card-accent">
            <a:extLst xmlns:a="http://schemas.openxmlformats.org/drawingml/2006/main">
              <a:ext uri="{FF2B5EF4-FFF2-40B4-BE49-F238E27FC236}">
                <a16:creationId xmlns:a16="http://schemas.microsoft.com/office/drawing/2014/main" id="{466C8DE0-DC00-4495-A22D-DD082CAD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571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ard-title">
            <a:extLst xmlns:a="http://schemas.openxmlformats.org/drawingml/2006/main">
              <a:ext uri="{FF2B5EF4-FFF2-40B4-BE49-F238E27FC236}">
                <a16:creationId xmlns:a16="http://schemas.microsoft.com/office/drawing/2014/main" id="{B0DF4381-B2D7-4BA9-858B-3B60BB7F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43075"/>
            <a:ext cx="2600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GitHub Actions</a:t>
            </a:r>
          </a:p>
        </p:txBody>
      </p:sp>
      <p:sp>
        <p:nvSpPr>
          <p:cNvPr id="18" name="card-body">
            <a:extLst xmlns:a="http://schemas.openxmlformats.org/drawingml/2006/main">
              <a:ext uri="{FF2B5EF4-FFF2-40B4-BE49-F238E27FC236}">
                <a16:creationId xmlns:a16="http://schemas.microsoft.com/office/drawing/2014/main" id="{37A291B9-5E82-44F7-92B1-1AE85121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24075"/>
            <a:ext cx="26003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CI séparée pour backend et frontend dans leurs propres repos.</a:t>
            </a:r>
          </a:p>
        </p:txBody>
      </p:sp>
      <p:sp>
        <p:nvSpPr>
          <p:cNvPr id="19" name="quality-note">
            <a:extLst xmlns:a="http://schemas.openxmlformats.org/drawingml/2006/main">
              <a:ext uri="{FF2B5EF4-FFF2-40B4-BE49-F238E27FC236}">
                <a16:creationId xmlns:a16="http://schemas.microsoft.com/office/drawing/2014/main" id="{2A2CEA22-78A0-40AE-9FA7-F0702F21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Objectif : detecter les regressions avant une demonstration ou une mise en production.</a:t>
            </a:r>
          </a:p>
        </p:txBody>
      </p:sp>
    </p:spTree>
    <p:extLst>
      <p:ext uri="{BB962C8B-B14F-4D97-AF65-F5344CB8AC3E}">
        <p14:creationId xmlns:p14="http://schemas.microsoft.com/office/powerpoint/2010/main" val="204526231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-band">
            <a:extLst xmlns:a="http://schemas.openxmlformats.org/drawingml/2006/main">
              <a:ext uri="{FF2B5EF4-FFF2-40B4-BE49-F238E27FC236}">
                <a16:creationId xmlns:a16="http://schemas.microsoft.com/office/drawing/2014/main" id="{1DB91B25-4CE4-49E1-99B2-3303FD048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4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section">
            <a:extLst xmlns:a="http://schemas.openxmlformats.org/drawingml/2006/main">
              <a:ext uri="{FF2B5EF4-FFF2-40B4-BE49-F238E27FC236}">
                <a16:creationId xmlns:a16="http://schemas.microsoft.com/office/drawing/2014/main" id="{1BECDF5C-33BA-4922-977D-2F4871907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EA5E9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EA5E9"/>
                </a:solidFill>
                <a:latin typeface="Aptos"/>
                <a:ea typeface="Aptos"/>
                <a:cs typeface="Aptos"/>
              </a:rPr>
              <a:t>16 - Perspectives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9BFE39-7FE9-46B3-AF84-B38C62A6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Limites actuelles et évolutions</a:t>
            </a:r>
          </a:p>
        </p:txBody>
      </p:sp>
      <p:sp>
        <p:nvSpPr>
          <p:cNvPr id="4" name="footer-line">
            <a:extLst xmlns:a="http://schemas.openxmlformats.org/drawingml/2006/main">
              <a:ext uri="{FF2B5EF4-FFF2-40B4-BE49-F238E27FC236}">
                <a16:creationId xmlns:a16="http://schemas.microsoft.com/office/drawing/2014/main" id="{8C408C70-6F8E-46AF-86B4-D55619A65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title">
            <a:extLst xmlns:a="http://schemas.openxmlformats.org/drawingml/2006/main">
              <a:ext uri="{FF2B5EF4-FFF2-40B4-BE49-F238E27FC236}">
                <a16:creationId xmlns:a16="http://schemas.microsoft.com/office/drawing/2014/main" id="{C883E470-9E71-4D7F-97C3-0BEE2292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SaveFunds - Défense TFE</a:t>
            </a:r>
          </a:p>
        </p:txBody>
      </p:sp>
      <p:sp>
        <p:nvSpPr>
          <p:cNvPr id="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30B9485-330E-44FC-B297-D0D2126A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4198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48B"/>
                </a:solidFill>
                <a:latin typeface="Aptos"/>
                <a:ea typeface="Aptos"/>
                <a:cs typeface="Aptos"/>
              </a:rPr>
              <a:t>17/18</a:t>
            </a:r>
          </a:p>
        </p:txBody>
      </p:sp>
      <p:sp>
        <p:nvSpPr>
          <p:cNvPr id="7" name="card">
            <a:extLst xmlns:a="http://schemas.openxmlformats.org/drawingml/2006/main">
              <a:ext uri="{FF2B5EF4-FFF2-40B4-BE49-F238E27FC236}">
                <a16:creationId xmlns:a16="http://schemas.microsoft.com/office/drawing/2014/main" id="{9EE87396-503D-4DF6-9781-3E41AE12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4381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card-accent">
            <a:extLst xmlns:a="http://schemas.openxmlformats.org/drawingml/2006/main">
              <a:ext uri="{FF2B5EF4-FFF2-40B4-BE49-F238E27FC236}">
                <a16:creationId xmlns:a16="http://schemas.microsoft.com/office/drawing/2014/main" id="{77B4FA02-893B-4EA4-8CF3-76648345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571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title">
            <a:extLst xmlns:a="http://schemas.openxmlformats.org/drawingml/2006/main">
              <a:ext uri="{FF2B5EF4-FFF2-40B4-BE49-F238E27FC236}">
                <a16:creationId xmlns:a16="http://schemas.microsoft.com/office/drawing/2014/main" id="{937E22F0-A6E5-479E-828A-D4DBC8395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743075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Limites du MVP</a:t>
            </a:r>
          </a:p>
        </p:txBody>
      </p:sp>
      <p:sp>
        <p:nvSpPr>
          <p:cNvPr id="10" name="card-body">
            <a:extLst xmlns:a="http://schemas.openxmlformats.org/drawingml/2006/main">
              <a:ext uri="{FF2B5EF4-FFF2-40B4-BE49-F238E27FC236}">
                <a16:creationId xmlns:a16="http://schemas.microsoft.com/office/drawing/2014/main" id="{04E3F0D0-64E3-4864-A1F6-F0DE11117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24075"/>
            <a:ext cx="398145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Saisie manuelle des données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Seuils identiques pour toutes les entreprises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Analyse basée sur une situation ponctuelle</a:t>
            </a:r>
          </a:p>
        </p:txBody>
      </p:sp>
      <p:sp>
        <p:nvSpPr>
          <p:cNvPr id="11" name="card">
            <a:extLst xmlns:a="http://schemas.openxmlformats.org/drawingml/2006/main">
              <a:ext uri="{FF2B5EF4-FFF2-40B4-BE49-F238E27FC236}">
                <a16:creationId xmlns:a16="http://schemas.microsoft.com/office/drawing/2014/main" id="{F4A2E4AC-B07F-4675-8D55-897A20A4C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4381500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card-accent">
            <a:extLst xmlns:a="http://schemas.openxmlformats.org/drawingml/2006/main">
              <a:ext uri="{FF2B5EF4-FFF2-40B4-BE49-F238E27FC236}">
                <a16:creationId xmlns:a16="http://schemas.microsoft.com/office/drawing/2014/main" id="{A64290B8-ED23-443E-B3F0-BB8AD8971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71625"/>
            <a:ext cx="5715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ard-title">
            <a:extLst xmlns:a="http://schemas.openxmlformats.org/drawingml/2006/main">
              <a:ext uri="{FF2B5EF4-FFF2-40B4-BE49-F238E27FC236}">
                <a16:creationId xmlns:a16="http://schemas.microsoft.com/office/drawing/2014/main" id="{9385EA3A-968C-4D98-BB7B-FA862848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43075"/>
            <a:ext cx="3981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72033"/>
                </a:solidFill>
                <a:latin typeface="Aptos"/>
                <a:ea typeface="Aptos"/>
                <a:cs typeface="Aptos"/>
              </a:rPr>
              <a:t>Évolutions possibles</a:t>
            </a:r>
          </a:p>
        </p:txBody>
      </p:sp>
      <p:sp>
        <p:nvSpPr>
          <p:cNvPr id="14" name="card-body">
            <a:extLst xmlns:a="http://schemas.openxmlformats.org/drawingml/2006/main">
              <a:ext uri="{FF2B5EF4-FFF2-40B4-BE49-F238E27FC236}">
                <a16:creationId xmlns:a16="http://schemas.microsoft.com/office/drawing/2014/main" id="{BD36EE5B-4D5D-4268-A837-0EB3A5B8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24075"/>
            <a:ext cx="3981450" cy="1933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Connexion bancaire ou comptable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Historique détaille des analyses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Alertes automatiques</a:t>
            </a:r>
          </a:p>
          <a:p xmlns:a="http://schemas.openxmlformats.org/drawingml/2006/main">
            <a:pPr>
              <a:defRPr sz="1275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64748B"/>
                </a:solidFill>
                <a:latin typeface="Aptos"/>
                <a:ea typeface="Aptos"/>
                <a:cs typeface="Aptos"/>
              </a:rPr>
              <a:t>Exports PDF</a:t>
            </a:r>
          </a:p>
        </p:txBody>
      </p:sp>
    </p:spTree>
    <p:extLst>
      <p:ext uri="{BB962C8B-B14F-4D97-AF65-F5344CB8AC3E}">
        <p14:creationId xmlns:p14="http://schemas.microsoft.com/office/powerpoint/2010/main" val="98135257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814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accent">
            <a:extLst xmlns:a="http://schemas.openxmlformats.org/drawingml/2006/main">
              <a:ext uri="{FF2B5EF4-FFF2-40B4-BE49-F238E27FC236}">
                <a16:creationId xmlns:a16="http://schemas.microsoft.com/office/drawing/2014/main" id="{F595875C-1491-41F3-AD9B-5D3567C3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D0E948-115C-4104-A115-C5E17B0A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conclusion">
            <a:extLst xmlns:a="http://schemas.openxmlformats.org/drawingml/2006/main">
              <a:ext uri="{FF2B5EF4-FFF2-40B4-BE49-F238E27FC236}">
                <a16:creationId xmlns:a16="http://schemas.microsoft.com/office/drawing/2014/main" id="{AAE7ADB0-DA51-4004-B59B-711C54996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62125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E5EEF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E5EEF9"/>
                </a:solidFill>
                <a:latin typeface="Aptos"/>
                <a:ea typeface="Aptos"/>
                <a:cs typeface="Aptos"/>
              </a:rPr>
              <a:t>SaveFunds est un MVP fonctionnel qui relie un besoin métier concret, une logique financière explicable et une architecture backend structurée.</a:t>
            </a:r>
          </a:p>
        </p:txBody>
      </p:sp>
      <p:sp>
        <p:nvSpPr>
          <p:cNvPr id="4" name="questions">
            <a:extLst xmlns:a="http://schemas.openxmlformats.org/drawingml/2006/main">
              <a:ext uri="{FF2B5EF4-FFF2-40B4-BE49-F238E27FC236}">
                <a16:creationId xmlns:a16="http://schemas.microsoft.com/office/drawing/2014/main" id="{31F4B00A-5379-46AB-B26F-0B5672B8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Questions ?</a:t>
            </a:r>
          </a:p>
        </p:txBody>
      </p:sp>
      <p:sp>
        <p:nvSpPr>
          <p:cNvPr id="5" name="thanks">
            <a:extLst xmlns:a="http://schemas.openxmlformats.org/drawingml/2006/main">
              <a:ext uri="{FF2B5EF4-FFF2-40B4-BE49-F238E27FC236}">
                <a16:creationId xmlns:a16="http://schemas.microsoft.com/office/drawing/2014/main" id="{25C531B9-6558-451D-9A22-16A1A068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625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C7D2FE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C7D2FE"/>
                </a:solidFill>
                <a:latin typeface="Aptos"/>
                <a:ea typeface="Aptos"/>
                <a:cs typeface="Aptos"/>
              </a:rPr>
              <a:t>Merci pour votre attention</a:t>
            </a:r>
          </a:p>
        </p:txBody>
      </p:sp>
    </p:spTree>
    <p:extLst>
      <p:ext uri="{BB962C8B-B14F-4D97-AF65-F5344CB8AC3E}">
        <p14:creationId xmlns:p14="http://schemas.microsoft.com/office/powerpoint/2010/main" val="17342428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2026-06-18T12:27:31.2090000Z</dcterms:created>
  <dcterms:modified xsi:type="dcterms:W3CDTF">2026-06-18T12:27:31.2090000Z</dcterms:modified>
</coreProperties>
</file>