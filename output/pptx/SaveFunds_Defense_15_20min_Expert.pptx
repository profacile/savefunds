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18d976ceb64667" /><Relationship Type="http://schemas.openxmlformats.org/officeDocument/2006/relationships/extended-properties" Target="/docProps/app.xml" Id="R5e74956d8b504a4c" /><Relationship Type="http://schemas.openxmlformats.org/officeDocument/2006/relationships/officeDocument" Target="/ppt/presentation.xml" Id="Rd4ba24c405d641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fbb7825d024e46"/>
  </p:sldMasterIdLst>
  <p:notesMasterIdLst>
    <p:notesMasterId xmlns:r="http://schemas.openxmlformats.org/officeDocument/2006/relationships" r:id="Reab8ff54ff244a43"/>
  </p:notesMasterIdLst>
  <p:sldIdLst>
    <p:sldId xmlns:r="http://schemas.openxmlformats.org/officeDocument/2006/relationships" id="256" r:id="Rc6af1078b4534877"/>
    <p:sldId xmlns:r="http://schemas.openxmlformats.org/officeDocument/2006/relationships" id="257" r:id="Rc929e43811f741df"/>
    <p:sldId xmlns:r="http://schemas.openxmlformats.org/officeDocument/2006/relationships" id="258" r:id="R18cf5212b51146eb"/>
    <p:sldId xmlns:r="http://schemas.openxmlformats.org/officeDocument/2006/relationships" id="259" r:id="R52aecd471d084899"/>
    <p:sldId xmlns:r="http://schemas.openxmlformats.org/officeDocument/2006/relationships" id="260" r:id="R4661b163b2934357"/>
    <p:sldId xmlns:r="http://schemas.openxmlformats.org/officeDocument/2006/relationships" id="261" r:id="R135e4fc4b41d4efb"/>
    <p:sldId xmlns:r="http://schemas.openxmlformats.org/officeDocument/2006/relationships" id="262" r:id="Rf572a99d85b84518"/>
    <p:sldId xmlns:r="http://schemas.openxmlformats.org/officeDocument/2006/relationships" id="263" r:id="R671714b2482d458e"/>
    <p:sldId xmlns:r="http://schemas.openxmlformats.org/officeDocument/2006/relationships" id="264" r:id="Rc8a133c12db14e25"/>
    <p:sldId xmlns:r="http://schemas.openxmlformats.org/officeDocument/2006/relationships" id="265" r:id="Re7df495f18c74a39"/>
    <p:sldId xmlns:r="http://schemas.openxmlformats.org/officeDocument/2006/relationships" id="266" r:id="Rbe0e90fdcc6b44e8"/>
    <p:sldId xmlns:r="http://schemas.openxmlformats.org/officeDocument/2006/relationships" id="267" r:id="R046b3284bf464057"/>
    <p:sldId xmlns:r="http://schemas.openxmlformats.org/officeDocument/2006/relationships" id="268" r:id="R7a5a1e2b369e45a6"/>
    <p:sldId xmlns:r="http://schemas.openxmlformats.org/officeDocument/2006/relationships" id="269" r:id="R78c78955f810416a"/>
    <p:sldId xmlns:r="http://schemas.openxmlformats.org/officeDocument/2006/relationships" id="270" r:id="R70d42e1e772d4878"/>
    <p:sldId xmlns:r="http://schemas.openxmlformats.org/officeDocument/2006/relationships" id="271" r:id="Rdc9cdc1a63b949d3"/>
    <p:sldId xmlns:r="http://schemas.openxmlformats.org/officeDocument/2006/relationships" id="272" r:id="Rff6457903d3a4ba6"/>
    <p:sldId xmlns:r="http://schemas.openxmlformats.org/officeDocument/2006/relationships" id="273" r:id="R6c884fa8751748bb"/>
    <p:sldId xmlns:r="http://schemas.openxmlformats.org/officeDocument/2006/relationships" id="274" r:id="R6f9e63b207ea4b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9745a6a4eb47de" /><Relationship Type="http://schemas.openxmlformats.org/officeDocument/2006/relationships/slideMaster" Target="/ppt/slideMasters/slideMaster1.xml" Id="R2dfbb7825d024e46" /><Relationship Type="http://schemas.openxmlformats.org/officeDocument/2006/relationships/notesMaster" Target="/ppt/notesMasters/notesMaster1.xml" Id="Reab8ff54ff244a43" /><Relationship Type="http://schemas.openxmlformats.org/officeDocument/2006/relationships/presProps" Target="/ppt/presProps.xml" Id="R0eda6c1bab3249ef" /><Relationship Type="http://schemas.openxmlformats.org/officeDocument/2006/relationships/tableStyles" Target="/ppt/tableStyles.xml" Id="R96176fa9702440b3" /><Relationship Type="http://schemas.openxmlformats.org/officeDocument/2006/relationships/slide" Target="/ppt/slides/slide1.xml" Id="Rc6af1078b4534877" /><Relationship Type="http://schemas.openxmlformats.org/officeDocument/2006/relationships/slide" Target="/ppt/slides/slide2.xml" Id="Rc929e43811f741df" /><Relationship Type="http://schemas.openxmlformats.org/officeDocument/2006/relationships/slide" Target="/ppt/slides/slide3.xml" Id="R18cf5212b51146eb" /><Relationship Type="http://schemas.openxmlformats.org/officeDocument/2006/relationships/slide" Target="/ppt/slides/slide4.xml" Id="R52aecd471d084899" /><Relationship Type="http://schemas.openxmlformats.org/officeDocument/2006/relationships/slide" Target="/ppt/slides/slide5.xml" Id="R4661b163b2934357" /><Relationship Type="http://schemas.openxmlformats.org/officeDocument/2006/relationships/slide" Target="/ppt/slides/slide6.xml" Id="R135e4fc4b41d4efb" /><Relationship Type="http://schemas.openxmlformats.org/officeDocument/2006/relationships/slide" Target="/ppt/slides/slide7.xml" Id="Rf572a99d85b84518" /><Relationship Type="http://schemas.openxmlformats.org/officeDocument/2006/relationships/slide" Target="/ppt/slides/slide8.xml" Id="R671714b2482d458e" /><Relationship Type="http://schemas.openxmlformats.org/officeDocument/2006/relationships/slide" Target="/ppt/slides/slide9.xml" Id="Rc8a133c12db14e25" /><Relationship Type="http://schemas.openxmlformats.org/officeDocument/2006/relationships/slide" Target="/ppt/slides/slide10.xml" Id="Re7df495f18c74a39" /><Relationship Type="http://schemas.openxmlformats.org/officeDocument/2006/relationships/slide" Target="/ppt/slides/slide11.xml" Id="Rbe0e90fdcc6b44e8" /><Relationship Type="http://schemas.openxmlformats.org/officeDocument/2006/relationships/slide" Target="/ppt/slides/slide12.xml" Id="R046b3284bf464057" /><Relationship Type="http://schemas.openxmlformats.org/officeDocument/2006/relationships/slide" Target="/ppt/slides/slide13.xml" Id="R7a5a1e2b369e45a6" /><Relationship Type="http://schemas.openxmlformats.org/officeDocument/2006/relationships/slide" Target="/ppt/slides/slide14.xml" Id="R78c78955f810416a" /><Relationship Type="http://schemas.openxmlformats.org/officeDocument/2006/relationships/slide" Target="/ppt/slides/slide15.xml" Id="R70d42e1e772d4878" /><Relationship Type="http://schemas.openxmlformats.org/officeDocument/2006/relationships/slide" Target="/ppt/slides/slide16.xml" Id="Rdc9cdc1a63b949d3" /><Relationship Type="http://schemas.openxmlformats.org/officeDocument/2006/relationships/slide" Target="/ppt/slides/slide17.xml" Id="Rff6457903d3a4ba6" /><Relationship Type="http://schemas.openxmlformats.org/officeDocument/2006/relationships/slide" Target="/ppt/slides/slide18.xml" Id="R6c884fa8751748bb" /><Relationship Type="http://schemas.openxmlformats.org/officeDocument/2006/relationships/slide" Target="/ppt/slides/slide19.xml" Id="R6f9e63b207ea4b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5a15e9b3f44a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ae5e62bcc6402c" /><Relationship Type="http://schemas.openxmlformats.org/officeDocument/2006/relationships/notesMaster" Target="/ppt/notesMasters/notesMaster1.xml" Id="R6536194cb8f643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75d8e696c74d90" /><Relationship Type="http://schemas.openxmlformats.org/officeDocument/2006/relationships/notesMaster" Target="/ppt/notesMasters/notesMaster1.xml" Id="R52a5beac9eb440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403fa580a14270" /><Relationship Type="http://schemas.openxmlformats.org/officeDocument/2006/relationships/notesMaster" Target="/ppt/notesMasters/notesMaster1.xml" Id="R567542dd0e764a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72fa32dc4b42a3" /><Relationship Type="http://schemas.openxmlformats.org/officeDocument/2006/relationships/notesMaster" Target="/ppt/notesMasters/notesMaster1.xml" Id="R96a07667e9894e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fd846a0e214007" /><Relationship Type="http://schemas.openxmlformats.org/officeDocument/2006/relationships/notesMaster" Target="/ppt/notesMasters/notesMaster1.xml" Id="Rb74b1453da6443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53b476cc9d4fe2" /><Relationship Type="http://schemas.openxmlformats.org/officeDocument/2006/relationships/notesMaster" Target="/ppt/notesMasters/notesMaster1.xml" Id="R013b63ac4ebf45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a2607eebee4ea0" /><Relationship Type="http://schemas.openxmlformats.org/officeDocument/2006/relationships/notesMaster" Target="/ppt/notesMasters/notesMaster1.xml" Id="Re0c1e81d649c45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84ac248d974d90" /><Relationship Type="http://schemas.openxmlformats.org/officeDocument/2006/relationships/notesMaster" Target="/ppt/notesMasters/notesMaster1.xml" Id="R5ae33f0711e140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9ae63e7a1f4aae" /><Relationship Type="http://schemas.openxmlformats.org/officeDocument/2006/relationships/notesMaster" Target="/ppt/notesMasters/notesMaster1.xml" Id="R050b5ed1f7544f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486160a67d4558" /><Relationship Type="http://schemas.openxmlformats.org/officeDocument/2006/relationships/notesMaster" Target="/ppt/notesMasters/notesMaster1.xml" Id="Ra4c491ca19c44e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70ed35934c4be9" /><Relationship Type="http://schemas.openxmlformats.org/officeDocument/2006/relationships/notesMaster" Target="/ppt/notesMasters/notesMaster1.xml" Id="R26e77e1965ee45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cd3344a8b9442f" /><Relationship Type="http://schemas.openxmlformats.org/officeDocument/2006/relationships/notesMaster" Target="/ppt/notesMasters/notesMaster1.xml" Id="R23f989ef052c4d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0389ab1b8642fc" /><Relationship Type="http://schemas.openxmlformats.org/officeDocument/2006/relationships/notesMaster" Target="/ppt/notesMasters/notesMaster1.xml" Id="R9550b20d7e4e4d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84d463ef364a7c" /><Relationship Type="http://schemas.openxmlformats.org/officeDocument/2006/relationships/notesMaster" Target="/ppt/notesMasters/notesMaster1.xml" Id="R30befdf2bfef4a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0fc7d6a68c4b16" /><Relationship Type="http://schemas.openxmlformats.org/officeDocument/2006/relationships/notesMaster" Target="/ppt/notesMasters/notesMaster1.xml" Id="Raedf2174dbc34a7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e4669abc654c8f" /><Relationship Type="http://schemas.openxmlformats.org/officeDocument/2006/relationships/notesMaster" Target="/ppt/notesMasters/notesMaster1.xml" Id="R24f99141119d46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a03e869573b46d7" /><Relationship Type="http://schemas.openxmlformats.org/officeDocument/2006/relationships/notesMaster" Target="/ppt/notesMasters/notesMaster1.xml" Id="R8ee046986dc0444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647a8711824847" /><Relationship Type="http://schemas.openxmlformats.org/officeDocument/2006/relationships/notesMaster" Target="/ppt/notesMasters/notesMaster1.xml" Id="R3dc659c1f2254b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ceaa666160e4214" /><Relationship Type="http://schemas.openxmlformats.org/officeDocument/2006/relationships/notesMaster" Target="/ppt/notesMasters/notesMaster1.xml" Id="R2343636df8a44b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ccbf3a05f4c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56e86d3630407a" /><Relationship Type="http://schemas.openxmlformats.org/officeDocument/2006/relationships/slideLayout" Target="/ppt/slideLayouts/slideLayout1.xml" Id="Ra54f308bb9d34e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4f308bb9d34e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169a508494733" /><Relationship Type="http://schemas.openxmlformats.org/officeDocument/2006/relationships/notesSlide" Target="/ppt/notesSlides/notesSlide1.xml" Id="R4e041162c75241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8881c2657424e" /><Relationship Type="http://schemas.openxmlformats.org/officeDocument/2006/relationships/notesSlide" Target="/ppt/notesSlides/notesSlide2.xml" Id="R8c8cb28bc54840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332a68db5425e" /><Relationship Type="http://schemas.openxmlformats.org/officeDocument/2006/relationships/notesSlide" Target="/ppt/notesSlides/notesSlide3.xml" Id="R936fb4f4791c44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b574f8f4c4530" /><Relationship Type="http://schemas.openxmlformats.org/officeDocument/2006/relationships/notesSlide" Target="/ppt/notesSlides/notesSlide4.xml" Id="R30d3e8bbfaa944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d7b5d96834cc3" /><Relationship Type="http://schemas.openxmlformats.org/officeDocument/2006/relationships/notesSlide" Target="/ppt/notesSlides/notesSlide5.xml" Id="Rf94ff2d7ce5340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8c0b36f7a40b6" /><Relationship Type="http://schemas.openxmlformats.org/officeDocument/2006/relationships/notesSlide" Target="/ppt/notesSlides/notesSlide6.xml" Id="R2e750565d28249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995e85e1843c9" /><Relationship Type="http://schemas.openxmlformats.org/officeDocument/2006/relationships/notesSlide" Target="/ppt/notesSlides/notesSlide7.xml" Id="Rfebd51eecd5f49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34f0b9cba471f" /><Relationship Type="http://schemas.openxmlformats.org/officeDocument/2006/relationships/notesSlide" Target="/ppt/notesSlides/notesSlide8.xml" Id="Rbafbed3c2c0946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ca35266f949df" /><Relationship Type="http://schemas.openxmlformats.org/officeDocument/2006/relationships/notesSlide" Target="/ppt/notesSlides/notesSlide9.xml" Id="R6cc89870cf824f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6d2d2df6148b8" /><Relationship Type="http://schemas.openxmlformats.org/officeDocument/2006/relationships/notesSlide" Target="/ppt/notesSlides/notesSlide10.xml" Id="Re7093a81195946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b39bf548d4d0a" /><Relationship Type="http://schemas.openxmlformats.org/officeDocument/2006/relationships/notesSlide" Target="/ppt/notesSlides/notesSlide11.xml" Id="R19a91b92192344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bafcde9ef48a9" /><Relationship Type="http://schemas.openxmlformats.org/officeDocument/2006/relationships/notesSlide" Target="/ppt/notesSlides/notesSlide12.xml" Id="Rbe6a89551ba04e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0ddff58bb4545" /><Relationship Type="http://schemas.openxmlformats.org/officeDocument/2006/relationships/notesSlide" Target="/ppt/notesSlides/notesSlide13.xml" Id="R9eeb1d5b170447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a98ae9d114e11" /><Relationship Type="http://schemas.openxmlformats.org/officeDocument/2006/relationships/notesSlide" Target="/ppt/notesSlides/notesSlide14.xml" Id="Ra03e6c9ca62746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260461cd34b26" /><Relationship Type="http://schemas.openxmlformats.org/officeDocument/2006/relationships/notesSlide" Target="/ppt/notesSlides/notesSlide15.xml" Id="Rdb3ac6581f2b45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5cfe3ad7d49f2" /><Relationship Type="http://schemas.openxmlformats.org/officeDocument/2006/relationships/notesSlide" Target="/ppt/notesSlides/notesSlide16.xml" Id="R065a5236d09e41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1e95f3dc04204" /><Relationship Type="http://schemas.openxmlformats.org/officeDocument/2006/relationships/notesSlide" Target="/ppt/notesSlides/notesSlide17.xml" Id="Rd93b39c8714e48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8abe53154402d" /><Relationship Type="http://schemas.openxmlformats.org/officeDocument/2006/relationships/notesSlide" Target="/ppt/notesSlides/notesSlide18.xml" Id="Rb7a8c1fd22bb49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eb315359941b1" /><Relationship Type="http://schemas.openxmlformats.org/officeDocument/2006/relationships/notesSlide" Target="/ppt/notesSlides/notesSlide19.xml" Id="R747fa91a06bb4b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">
            <a:extLst xmlns:a="http://schemas.openxmlformats.org/drawingml/2006/main">
              <a:ext uri="{FF2B5EF4-FFF2-40B4-BE49-F238E27FC236}">
                <a16:creationId xmlns:a16="http://schemas.microsoft.com/office/drawing/2014/main" id="{1EF66B2C-F6C9-4E37-8E49-EA028293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0E13D6D-4FA6-46C7-A198-DB70167D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SAVEFUNDS</a:t>
            </a:r>
          </a:p>
        </p:txBody>
      </p:sp>
      <p:sp>
        <p:nvSpPr>
          <p:cNvPr id="3" name="main-title">
            <a:extLst xmlns:a="http://schemas.openxmlformats.org/drawingml/2006/main">
              <a:ext uri="{FF2B5EF4-FFF2-40B4-BE49-F238E27FC236}">
                <a16:creationId xmlns:a16="http://schemas.microsoft.com/office/drawing/2014/main" id="{BCDE0A27-38CF-4ECB-A921-8ADD9D29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85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Vigilance financière pour les retraits en PME et SRL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015865F-5775-4BDC-8A1A-7A74B416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C7D2FE"/>
                </a:solidFill>
                <a:latin typeface="Aptos"/>
                <a:ea typeface="Aptos"/>
                <a:cs typeface="Aptos"/>
              </a:rPr>
              <a:t>Application full-stack : Spring Boot 3.4 / Java 21 / PostgreSQL / Vue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D767217E-8D08-4F48-BCDD-A336F724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D7DEE9"/>
                </a:solidFill>
                <a:latin typeface="Aptos"/>
                <a:ea typeface="Aptos"/>
                <a:cs typeface="Aptos"/>
              </a:rPr>
              <a:t>Steve Djomatchoua Monthe</a:t>
            </a:r>
          </a:p>
          <a:p xmlns:a="http://schemas.openxmlformats.org/drawingml/2006/main">
            <a:pPr>
              <a:defRPr sz="120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D7DEE9"/>
                </a:solidFill>
                <a:latin typeface="Aptos"/>
                <a:ea typeface="Aptos"/>
                <a:cs typeface="Aptos"/>
              </a:rPr>
              <a:t>Bachelier en informatique - HEPL</a:t>
            </a:r>
          </a:p>
          <a:p xmlns:a="http://schemas.openxmlformats.org/drawingml/2006/main">
            <a:pPr>
              <a:defRPr sz="120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D7DEE9"/>
                </a:solidFill>
                <a:latin typeface="Aptos"/>
                <a:ea typeface="Aptos"/>
                <a:cs typeface="Aptos"/>
              </a:rPr>
              <a:t>Année académique 2025-2026</a:t>
            </a:r>
          </a:p>
        </p:txBody>
      </p:sp>
    </p:spTree>
    <p:extLst>
      <p:ext uri="{BB962C8B-B14F-4D97-AF65-F5344CB8AC3E}">
        <p14:creationId xmlns:p14="http://schemas.microsoft.com/office/powerpoint/2010/main" val="20606127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C9F5297D-4746-486A-8DE3-CCF37E53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3A72899-ADFF-45C8-8E7F-806D0D41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01 - Fil conducteur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CEBE8D-3219-4DA1-9329-CA4A20C1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 message que je veux faire passer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815B0B4-7433-47A3-8B16-F703B22A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04B2B4FD-376D-4D28-8D98-BD7D244D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41A2030-5C24-43BF-A8B0-9438BB33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2/19</a:t>
            </a:r>
          </a:p>
        </p:txBody>
      </p:sp>
      <p:sp>
        <p:nvSpPr>
          <p:cNvPr id="7" name="message">
            <a:extLst xmlns:a="http://schemas.openxmlformats.org/drawingml/2006/main">
              <a:ext uri="{FF2B5EF4-FFF2-40B4-BE49-F238E27FC236}">
                <a16:creationId xmlns:a16="http://schemas.microsoft.com/office/drawing/2014/main" id="{F64163D8-A03A-4626-AD7E-10068B6C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SaveFunds ne remplace pas l'expert-comptable : il donne au dirigeant une première lecture structurée, traçable et compréhensible avant un retrait personnel.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BDD15092-51AA-4B3A-A9E3-1DB98AEB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accent">
            <a:extLst xmlns:a="http://schemas.openxmlformats.org/drawingml/2006/main">
              <a:ext uri="{FF2B5EF4-FFF2-40B4-BE49-F238E27FC236}">
                <a16:creationId xmlns:a16="http://schemas.microsoft.com/office/drawing/2014/main" id="{8EF8C3C1-D1B6-4C15-93FA-3752ED72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">
            <a:extLst xmlns:a="http://schemas.openxmlformats.org/drawingml/2006/main">
              <a:ext uri="{FF2B5EF4-FFF2-40B4-BE49-F238E27FC236}">
                <a16:creationId xmlns:a16="http://schemas.microsoft.com/office/drawing/2014/main" id="{BFCE378D-29D4-4015-8924-2A9164C3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71825"/>
            <a:ext cx="2581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Décision rapide</a:t>
            </a:r>
          </a:p>
        </p:txBody>
      </p:sp>
      <p:sp>
        <p:nvSpPr>
          <p:cNvPr id="11" name="card-body">
            <a:extLst xmlns:a="http://schemas.openxmlformats.org/drawingml/2006/main">
              <a:ext uri="{FF2B5EF4-FFF2-40B4-BE49-F238E27FC236}">
                <a16:creationId xmlns:a16="http://schemas.microsoft.com/office/drawing/2014/main" id="{5746E0C8-A982-439E-87B0-8BF77194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52825"/>
            <a:ext cx="25812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Une couleur globale : vert, orange ou rouge.</a:t>
            </a:r>
          </a:p>
        </p:txBody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550E18C5-C39D-405C-8F8E-9B08DEF6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accent">
            <a:extLst xmlns:a="http://schemas.openxmlformats.org/drawingml/2006/main">
              <a:ext uri="{FF2B5EF4-FFF2-40B4-BE49-F238E27FC236}">
                <a16:creationId xmlns:a16="http://schemas.microsoft.com/office/drawing/2014/main" id="{9079C616-1701-44FD-A52A-1CAD1D32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037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">
            <a:extLst xmlns:a="http://schemas.openxmlformats.org/drawingml/2006/main">
              <a:ext uri="{FF2B5EF4-FFF2-40B4-BE49-F238E27FC236}">
                <a16:creationId xmlns:a16="http://schemas.microsoft.com/office/drawing/2014/main" id="{1C598A19-D2B7-450F-95C2-69F42744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71825"/>
            <a:ext cx="2581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Justification</a:t>
            </a:r>
          </a:p>
        </p:txBody>
      </p:sp>
      <p:sp>
        <p:nvSpPr>
          <p:cNvPr id="15" name="card-body">
            <a:extLst xmlns:a="http://schemas.openxmlformats.org/drawingml/2006/main">
              <a:ext uri="{FF2B5EF4-FFF2-40B4-BE49-F238E27FC236}">
                <a16:creationId xmlns:a16="http://schemas.microsoft.com/office/drawing/2014/main" id="{6D03E374-937E-4E61-AAF0-6E92421D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52825"/>
            <a:ext cx="25812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Chaque couleur vient d'indicateurs et de seuils explicites.</a:t>
            </a:r>
          </a:p>
        </p:txBody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E4C9AB23-88F1-4330-9F7B-D891F935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0375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accent">
            <a:extLst xmlns:a="http://schemas.openxmlformats.org/drawingml/2006/main">
              <a:ext uri="{FF2B5EF4-FFF2-40B4-BE49-F238E27FC236}">
                <a16:creationId xmlns:a16="http://schemas.microsoft.com/office/drawing/2014/main" id="{8265AB82-81B7-48D3-8727-CCF52B9D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0037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">
            <a:extLst xmlns:a="http://schemas.openxmlformats.org/drawingml/2006/main">
              <a:ext uri="{FF2B5EF4-FFF2-40B4-BE49-F238E27FC236}">
                <a16:creationId xmlns:a16="http://schemas.microsoft.com/office/drawing/2014/main" id="{01D83EFC-DCF3-47D2-90AA-5E42541C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71825"/>
            <a:ext cx="2581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Préparation prod</a:t>
            </a:r>
          </a:p>
        </p:txBody>
      </p:sp>
      <p:sp>
        <p:nvSpPr>
          <p:cNvPr id="19" name="card-body">
            <a:extLst xmlns:a="http://schemas.openxmlformats.org/drawingml/2006/main">
              <a:ext uri="{FF2B5EF4-FFF2-40B4-BE49-F238E27FC236}">
                <a16:creationId xmlns:a16="http://schemas.microsoft.com/office/drawing/2014/main" id="{E4EC52C2-0F30-48D3-AAAB-95EE0193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52825"/>
            <a:ext cx="25812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Configuration externe, migrations DB, tests et CI.</a:t>
            </a:r>
          </a:p>
        </p:txBody>
      </p:sp>
    </p:spTree>
    <p:extLst>
      <p:ext uri="{BB962C8B-B14F-4D97-AF65-F5344CB8AC3E}">
        <p14:creationId xmlns:p14="http://schemas.microsoft.com/office/powerpoint/2010/main" val="1619113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B8EC0FC9-5629-46EF-A3B9-0DCA0D51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C3AA0DD-FF7B-43C7-82E9-5710177A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02 - Contexte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EB5561-4091-45DB-8EEB-2061F189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Contexte : un besoin concret de dirigeant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03800C5-1478-4954-A282-D3DEEC70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BCA4F070-CBC6-47F5-AEDD-29905D1A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BF48680-BD02-4E3E-8C87-CD8900B5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3/19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0B6AEED3-941F-4889-8E72-36A64D04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81E55097-C25B-4871-972F-E0024A8C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9516A31A-2AB7-40A5-8697-2B61EDC2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954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Client cible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83A9BC24-B8A8-4735-849B-5C2B249F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Dirigeants de PME belges et SRL qui veulent prélever prudemment.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804A1616-8CD2-4BCD-AD82-7702C713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accent">
            <a:extLst xmlns:a="http://schemas.openxmlformats.org/drawingml/2006/main">
              <a:ext uri="{FF2B5EF4-FFF2-40B4-BE49-F238E27FC236}">
                <a16:creationId xmlns:a16="http://schemas.microsoft.com/office/drawing/2014/main" id="{0F02BE19-8146-4F43-973D-CFEF571E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BB6F7E1B-EC20-45DB-815E-2101E092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954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Acteur associé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7CDA6E54-7BE8-41DC-B050-7D89B02F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7645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Comptable ou conseiller qui valide les flux et interprète les recommandations.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2098B538-4529-4590-84F5-225C5AA3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2400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accent">
            <a:extLst xmlns:a="http://schemas.openxmlformats.org/drawingml/2006/main">
              <a:ext uri="{FF2B5EF4-FFF2-40B4-BE49-F238E27FC236}">
                <a16:creationId xmlns:a16="http://schemas.microsoft.com/office/drawing/2014/main" id="{DC609EB7-A286-4684-A09B-2767A195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240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title">
            <a:extLst xmlns:a="http://schemas.openxmlformats.org/drawingml/2006/main">
              <a:ext uri="{FF2B5EF4-FFF2-40B4-BE49-F238E27FC236}">
                <a16:creationId xmlns:a16="http://schemas.microsoft.com/office/drawing/2014/main" id="{150A311E-A8F1-4800-A439-A12F1E92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954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Risque</a:t>
            </a:r>
          </a:p>
        </p:txBody>
      </p:sp>
      <p:sp>
        <p:nvSpPr>
          <p:cNvPr id="18" name="card-body">
            <a:extLst xmlns:a="http://schemas.openxmlformats.org/drawingml/2006/main">
              <a:ext uri="{FF2B5EF4-FFF2-40B4-BE49-F238E27FC236}">
                <a16:creationId xmlns:a16="http://schemas.microsoft.com/office/drawing/2014/main" id="{DDCD2EF4-4348-4848-88DA-7548B8BA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76450"/>
            <a:ext cx="272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Confondre argent disponible et argent réellement prélevable.</a:t>
            </a:r>
          </a:p>
        </p:txBody>
      </p:sp>
      <p:sp>
        <p:nvSpPr>
          <p:cNvPr id="19" name="role">
            <a:extLst xmlns:a="http://schemas.openxmlformats.org/drawingml/2006/main">
              <a:ext uri="{FF2B5EF4-FFF2-40B4-BE49-F238E27FC236}">
                <a16:creationId xmlns:a16="http://schemas.microsoft.com/office/drawing/2014/main" id="{0C2002F9-E8FD-471C-8833-1F39D0BF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Mon rôle principal : structurer le backend, l'API REST, la logique financière, la sécurité et les tests.</a:t>
            </a:r>
          </a:p>
        </p:txBody>
      </p:sp>
    </p:spTree>
    <p:extLst>
      <p:ext uri="{BB962C8B-B14F-4D97-AF65-F5344CB8AC3E}">
        <p14:creationId xmlns:p14="http://schemas.microsoft.com/office/powerpoint/2010/main" val="16043288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94DF5950-5E26-4E99-AD94-8FD06D08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3BFE50B-4D11-41E8-B6E7-CA5AE8C7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03 - Problème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F56DF4-FF36-404D-81EA-0788A953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Problématique métier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623B3E3-ABE3-4060-B422-2D52E05B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D837BD1F-9038-4422-8749-525CF31B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62FF36E-F5A6-4742-83E1-B6C31063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4/19</a:t>
            </a:r>
          </a:p>
        </p:txBody>
      </p:sp>
      <p:sp>
        <p:nvSpPr>
          <p:cNvPr id="7" name="problem">
            <a:extLst xmlns:a="http://schemas.openxmlformats.org/drawingml/2006/main">
              <a:ext uri="{FF2B5EF4-FFF2-40B4-BE49-F238E27FC236}">
                <a16:creationId xmlns:a16="http://schemas.microsoft.com/office/drawing/2014/main" id="{787072F6-02A6-4106-A60C-1CAB5836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Un retrait peut sembler possible parce que le compte bancaire est positif, mais devenir dangereux si les charges, le chiffre d'affaires ou le compte courant sont fragiles.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C96844F1-9458-45C8-9CEC-13763461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accent">
            <a:extLst xmlns:a="http://schemas.openxmlformats.org/drawingml/2006/main">
              <a:ext uri="{FF2B5EF4-FFF2-40B4-BE49-F238E27FC236}">
                <a16:creationId xmlns:a16="http://schemas.microsoft.com/office/drawing/2014/main" id="{04607398-8A96-4EA8-B242-030DD338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">
            <a:extLst xmlns:a="http://schemas.openxmlformats.org/drawingml/2006/main">
              <a:ext uri="{FF2B5EF4-FFF2-40B4-BE49-F238E27FC236}">
                <a16:creationId xmlns:a16="http://schemas.microsoft.com/office/drawing/2014/main" id="{5B7779ED-AD6C-4030-B755-FB4D1B44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Court terme</a:t>
            </a:r>
          </a:p>
        </p:txBody>
      </p:sp>
      <p:sp>
        <p:nvSpPr>
          <p:cNvPr id="11" name="card-body">
            <a:extLst xmlns:a="http://schemas.openxmlformats.org/drawingml/2006/main">
              <a:ext uri="{FF2B5EF4-FFF2-40B4-BE49-F238E27FC236}">
                <a16:creationId xmlns:a16="http://schemas.microsoft.com/office/drawing/2014/main" id="{300681B6-5E8E-4A7B-A5B7-F76444A8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2533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Risque de manquer de trésorerie pour payer les charges.</a:t>
            </a:r>
          </a:p>
        </p:txBody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08C626DA-47B7-4AEB-B073-D86E9621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accent">
            <a:extLst xmlns:a="http://schemas.openxmlformats.org/drawingml/2006/main">
              <a:ext uri="{FF2B5EF4-FFF2-40B4-BE49-F238E27FC236}">
                <a16:creationId xmlns:a16="http://schemas.microsoft.com/office/drawing/2014/main" id="{0DB3F66F-0E1B-4577-BB1B-81824667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">
            <a:extLst xmlns:a="http://schemas.openxmlformats.org/drawingml/2006/main">
              <a:ext uri="{FF2B5EF4-FFF2-40B4-BE49-F238E27FC236}">
                <a16:creationId xmlns:a16="http://schemas.microsoft.com/office/drawing/2014/main" id="{5FC3340B-479A-4D75-9586-4E401237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242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Lecture comptable</a:t>
            </a:r>
          </a:p>
        </p:txBody>
      </p:sp>
      <p:sp>
        <p:nvSpPr>
          <p:cNvPr id="15" name="card-body">
            <a:extLst xmlns:a="http://schemas.openxmlformats.org/drawingml/2006/main">
              <a:ext uri="{FF2B5EF4-FFF2-40B4-BE49-F238E27FC236}">
                <a16:creationId xmlns:a16="http://schemas.microsoft.com/office/drawing/2014/main" id="{AB2435EA-50E3-407F-AB7C-2733CEEF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05200"/>
            <a:ext cx="2533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Besoin de relier les chiffres à des indicateurs lisibles.</a:t>
            </a:r>
          </a:p>
        </p:txBody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4D227CF9-11F4-443D-8745-C33551AB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accent">
            <a:extLst xmlns:a="http://schemas.openxmlformats.org/drawingml/2006/main">
              <a:ext uri="{FF2B5EF4-FFF2-40B4-BE49-F238E27FC236}">
                <a16:creationId xmlns:a16="http://schemas.microsoft.com/office/drawing/2014/main" id="{A22D1B6D-7DE7-4637-BD23-75B53591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">
            <a:extLst xmlns:a="http://schemas.openxmlformats.org/drawingml/2006/main">
              <a:ext uri="{FF2B5EF4-FFF2-40B4-BE49-F238E27FC236}">
                <a16:creationId xmlns:a16="http://schemas.microsoft.com/office/drawing/2014/main" id="{87675040-995F-42A8-96E4-151738D6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Traçabilité</a:t>
            </a:r>
          </a:p>
        </p:txBody>
      </p:sp>
      <p:sp>
        <p:nvSpPr>
          <p:cNvPr id="19" name="card-body">
            <a:extLst xmlns:a="http://schemas.openxmlformats.org/drawingml/2006/main">
              <a:ext uri="{FF2B5EF4-FFF2-40B4-BE49-F238E27FC236}">
                <a16:creationId xmlns:a16="http://schemas.microsoft.com/office/drawing/2014/main" id="{5A0332D6-C979-4A71-8404-6EECAAB9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05200"/>
            <a:ext cx="2533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Expliquer pourquoi le retrait est conseillé ou déconseillé.</a:t>
            </a:r>
          </a:p>
        </p:txBody>
      </p:sp>
    </p:spTree>
    <p:extLst>
      <p:ext uri="{BB962C8B-B14F-4D97-AF65-F5344CB8AC3E}">
        <p14:creationId xmlns:p14="http://schemas.microsoft.com/office/powerpoint/2010/main" val="387472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3254B5AC-8F2C-4DBA-BA20-A36323C7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A83A048-06F2-4FD5-9163-29C2D4E8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04 - Solution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D97422-18F6-4A13-B6C2-177063C1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La réponse SaveFunds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7A38D1A-FB0C-4AFB-92FD-D79F88AB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F58C94B2-FFCF-4A69-8128-6347F651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536AF40-7BD7-4928-A150-60ABB146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5/19</a:t>
            </a:r>
          </a:p>
        </p:txBody>
      </p:sp>
      <p:sp>
        <p:nvSpPr>
          <p:cNvPr id="7" name="solution">
            <a:extLst xmlns:a="http://schemas.openxmlformats.org/drawingml/2006/main">
              <a:ext uri="{FF2B5EF4-FFF2-40B4-BE49-F238E27FC236}">
                <a16:creationId xmlns:a16="http://schemas.microsoft.com/office/drawing/2014/main" id="{1D82C633-F9AA-4130-9D92-7B43FF89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L'utilisateur encode les données financières clés, demande un montant de retrait, puis SaveFunds calcule quatre indicateurs et produit une décision tricolore.</a:t>
            </a:r>
          </a:p>
        </p:txBody>
      </p:sp>
      <p:sp>
        <p:nvSpPr>
          <p:cNvPr id="8" name="pill">
            <a:extLst xmlns:a="http://schemas.openxmlformats.org/drawingml/2006/main">
              <a:ext uri="{FF2B5EF4-FFF2-40B4-BE49-F238E27FC236}">
                <a16:creationId xmlns:a16="http://schemas.microsoft.com/office/drawing/2014/main" id="{E33707E5-3347-4742-87FC-C51CC688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67000"/>
            <a:ext cx="1600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9" name="pill-text">
            <a:extLst xmlns:a="http://schemas.openxmlformats.org/drawingml/2006/main">
              <a:ext uri="{FF2B5EF4-FFF2-40B4-BE49-F238E27FC236}">
                <a16:creationId xmlns:a16="http://schemas.microsoft.com/office/drawing/2014/main" id="{1F570DBF-F064-456B-90EA-4A98B897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7177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VERT</a:t>
            </a:r>
          </a:p>
        </p:txBody>
      </p:sp>
      <p:sp>
        <p:nvSpPr>
          <p:cNvPr id="10" name="pill">
            <a:extLst xmlns:a="http://schemas.openxmlformats.org/drawingml/2006/main">
              <a:ext uri="{FF2B5EF4-FFF2-40B4-BE49-F238E27FC236}">
                <a16:creationId xmlns:a16="http://schemas.microsoft.com/office/drawing/2014/main" id="{E08ED032-844E-4320-9962-C1FC70B4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67000"/>
            <a:ext cx="1600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pill-text">
            <a:extLst xmlns:a="http://schemas.openxmlformats.org/drawingml/2006/main">
              <a:ext uri="{FF2B5EF4-FFF2-40B4-BE49-F238E27FC236}">
                <a16:creationId xmlns:a16="http://schemas.microsoft.com/office/drawing/2014/main" id="{69B69207-D261-4B1D-9FE2-2775B7CA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77177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ORANGE</a:t>
            </a:r>
          </a:p>
        </p:txBody>
      </p:sp>
      <p:sp>
        <p:nvSpPr>
          <p:cNvPr id="12" name="pill">
            <a:extLst xmlns:a="http://schemas.openxmlformats.org/drawingml/2006/main">
              <a:ext uri="{FF2B5EF4-FFF2-40B4-BE49-F238E27FC236}">
                <a16:creationId xmlns:a16="http://schemas.microsoft.com/office/drawing/2014/main" id="{BCA874A6-F47A-4363-A9B9-9F78E725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67000"/>
            <a:ext cx="1600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3" name="pill-text">
            <a:extLst xmlns:a="http://schemas.openxmlformats.org/drawingml/2006/main">
              <a:ext uri="{FF2B5EF4-FFF2-40B4-BE49-F238E27FC236}">
                <a16:creationId xmlns:a16="http://schemas.microsoft.com/office/drawing/2014/main" id="{7BB1FC9C-4026-4EAE-9A0B-EBBFF805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7177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ROUGE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FBB7BA8E-7D00-4311-A052-BA4954BD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38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accent">
            <a:extLst xmlns:a="http://schemas.openxmlformats.org/drawingml/2006/main">
              <a:ext uri="{FF2B5EF4-FFF2-40B4-BE49-F238E27FC236}">
                <a16:creationId xmlns:a16="http://schemas.microsoft.com/office/drawing/2014/main" id="{E35B9AB8-CF7C-4154-95DD-5A24F1C3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1918C2C2-2F4B-4113-8380-DF262A27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Données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F9168EFF-AD82-4C58-A02D-2CD4B336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62450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CA, charges, trésorerie, compte courant.</a:t>
            </a:r>
          </a:p>
        </p:txBody>
      </p:sp>
      <p:sp>
        <p:nvSpPr>
          <p:cNvPr id="18" name="card">
            <a:extLst xmlns:a="http://schemas.openxmlformats.org/drawingml/2006/main">
              <a:ext uri="{FF2B5EF4-FFF2-40B4-BE49-F238E27FC236}">
                <a16:creationId xmlns:a16="http://schemas.microsoft.com/office/drawing/2014/main" id="{A4A81193-364B-4C63-802B-A2CD38F8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10000"/>
            <a:ext cx="238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accent">
            <a:extLst xmlns:a="http://schemas.openxmlformats.org/drawingml/2006/main">
              <a:ext uri="{FF2B5EF4-FFF2-40B4-BE49-F238E27FC236}">
                <a16:creationId xmlns:a16="http://schemas.microsoft.com/office/drawing/2014/main" id="{6CC00BB9-6FE2-485E-ABC1-584CD52B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10000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title">
            <a:extLst xmlns:a="http://schemas.openxmlformats.org/drawingml/2006/main">
              <a:ext uri="{FF2B5EF4-FFF2-40B4-BE49-F238E27FC236}">
                <a16:creationId xmlns:a16="http://schemas.microsoft.com/office/drawing/2014/main" id="{9F85B7FA-5D56-47E5-923C-F84BBE2D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814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Calculs</a:t>
            </a:r>
          </a:p>
        </p:txBody>
      </p:sp>
      <p:sp>
        <p:nvSpPr>
          <p:cNvPr id="21" name="card-body">
            <a:extLst xmlns:a="http://schemas.openxmlformats.org/drawingml/2006/main">
              <a:ext uri="{FF2B5EF4-FFF2-40B4-BE49-F238E27FC236}">
                <a16:creationId xmlns:a16="http://schemas.microsoft.com/office/drawing/2014/main" id="{C02F2A1E-1D5F-4F3D-9741-3B9FD684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62450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Ratios et seuils métier.</a:t>
            </a:r>
          </a:p>
        </p:txBody>
      </p:sp>
      <p:sp>
        <p:nvSpPr>
          <p:cNvPr id="22" name="card">
            <a:extLst xmlns:a="http://schemas.openxmlformats.org/drawingml/2006/main">
              <a:ext uri="{FF2B5EF4-FFF2-40B4-BE49-F238E27FC236}">
                <a16:creationId xmlns:a16="http://schemas.microsoft.com/office/drawing/2014/main" id="{2329EB28-A708-4E32-925F-7AAD2C0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238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accent">
            <a:extLst xmlns:a="http://schemas.openxmlformats.org/drawingml/2006/main">
              <a:ext uri="{FF2B5EF4-FFF2-40B4-BE49-F238E27FC236}">
                <a16:creationId xmlns:a16="http://schemas.microsoft.com/office/drawing/2014/main" id="{334120D2-7A88-423B-BD84-30411B46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rd-title">
            <a:extLst xmlns:a="http://schemas.openxmlformats.org/drawingml/2006/main">
              <a:ext uri="{FF2B5EF4-FFF2-40B4-BE49-F238E27FC236}">
                <a16:creationId xmlns:a16="http://schemas.microsoft.com/office/drawing/2014/main" id="{FB79E418-E646-401D-BDBD-32078245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814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Décision</a:t>
            </a:r>
          </a:p>
        </p:txBody>
      </p:sp>
      <p:sp>
        <p:nvSpPr>
          <p:cNvPr id="25" name="card-body">
            <a:extLst xmlns:a="http://schemas.openxmlformats.org/drawingml/2006/main">
              <a:ext uri="{FF2B5EF4-FFF2-40B4-BE49-F238E27FC236}">
                <a16:creationId xmlns:a16="http://schemas.microsoft.com/office/drawing/2014/main" id="{001E0BFE-90A8-4626-A078-C9C4A179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Couleur globale + détails.</a:t>
            </a:r>
          </a:p>
        </p:txBody>
      </p:sp>
      <p:sp>
        <p:nvSpPr>
          <p:cNvPr id="26" name="card">
            <a:extLst xmlns:a="http://schemas.openxmlformats.org/drawingml/2006/main">
              <a:ext uri="{FF2B5EF4-FFF2-40B4-BE49-F238E27FC236}">
                <a16:creationId xmlns:a16="http://schemas.microsoft.com/office/drawing/2014/main" id="{92BF541D-DAB9-496D-8006-9439452E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2095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accent">
            <a:extLst xmlns:a="http://schemas.openxmlformats.org/drawingml/2006/main">
              <a:ext uri="{FF2B5EF4-FFF2-40B4-BE49-F238E27FC236}">
                <a16:creationId xmlns:a16="http://schemas.microsoft.com/office/drawing/2014/main" id="{C9504392-7FA5-4DC3-900E-C6305A72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571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ard-title">
            <a:extLst xmlns:a="http://schemas.openxmlformats.org/drawingml/2006/main">
              <a:ext uri="{FF2B5EF4-FFF2-40B4-BE49-F238E27FC236}">
                <a16:creationId xmlns:a16="http://schemas.microsoft.com/office/drawing/2014/main" id="{BFECD197-8043-4FF4-85DB-44C4FD6B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814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Conseil</a:t>
            </a:r>
          </a:p>
        </p:txBody>
      </p:sp>
      <p:sp>
        <p:nvSpPr>
          <p:cNvPr id="29" name="card-body">
            <a:extLst xmlns:a="http://schemas.openxmlformats.org/drawingml/2006/main">
              <a:ext uri="{FF2B5EF4-FFF2-40B4-BE49-F238E27FC236}">
                <a16:creationId xmlns:a16="http://schemas.microsoft.com/office/drawing/2014/main" id="{BFA4861F-9752-4DAE-AF5E-C204B690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62450"/>
            <a:ext cx="1676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Recommandations contextualisées.</a:t>
            </a:r>
          </a:p>
        </p:txBody>
      </p:sp>
    </p:spTree>
    <p:extLst>
      <p:ext uri="{BB962C8B-B14F-4D97-AF65-F5344CB8AC3E}">
        <p14:creationId xmlns:p14="http://schemas.microsoft.com/office/powerpoint/2010/main" val="1929745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5AEA2261-FC8C-4EAD-800B-2D5AE770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F5AB040-FD96-46FA-8960-A1FBB145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05 - Référentiel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40A6B0-260A-4866-B0FB-E99DFD1C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Références utilisées dans la logique métier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ED4E326-1132-45B1-AF8B-BCBD9F3D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33B2E3F2-A64B-44D1-98F6-7261F484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FDAA134-FD21-46C7-8511-E0876CAE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6/19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579DB9C3-FA3D-49AA-830A-619A06F5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794218FA-1412-482B-B6C0-7517DFB2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BD8F2BAA-A5DE-4212-A1CF-EE77E9BD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47825"/>
            <a:ext cx="467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Trésorerie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3420C6D3-633C-4552-A0D7-E6B08816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28825"/>
            <a:ext cx="4676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Couverture en mois de charges : logique de réserve de sécurité inspirée des pratiques BNB.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79E4C2B2-51BA-4B80-9027-44FC943C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accent">
            <a:extLst xmlns:a="http://schemas.openxmlformats.org/drawingml/2006/main">
              <a:ext uri="{FF2B5EF4-FFF2-40B4-BE49-F238E27FC236}">
                <a16:creationId xmlns:a16="http://schemas.microsoft.com/office/drawing/2014/main" id="{718A98BE-B7EA-4E07-A19C-3967D936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A6588065-E766-4EA8-8FAD-FC27DB87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47825"/>
            <a:ext cx="467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Rentabilité opérationnelle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99507E23-D636-4FF2-A289-0069FE6F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28825"/>
            <a:ext cx="4676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Ratio chiffre d'affaires / charges pour détecter une activité fragile.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078A77DF-0018-4CA9-B056-33C54074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accent">
            <a:extLst xmlns:a="http://schemas.openxmlformats.org/drawingml/2006/main">
              <a:ext uri="{FF2B5EF4-FFF2-40B4-BE49-F238E27FC236}">
                <a16:creationId xmlns:a16="http://schemas.microsoft.com/office/drawing/2014/main" id="{2391A19B-DA7E-490A-930D-08612C77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title">
            <a:extLst xmlns:a="http://schemas.openxmlformats.org/drawingml/2006/main">
              <a:ext uri="{FF2B5EF4-FFF2-40B4-BE49-F238E27FC236}">
                <a16:creationId xmlns:a16="http://schemas.microsoft.com/office/drawing/2014/main" id="{8F90ED29-DEB0-48EE-BD0C-85201F35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467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Compte courant débiteur</a:t>
            </a:r>
          </a:p>
        </p:txBody>
      </p:sp>
      <p:sp>
        <p:nvSpPr>
          <p:cNvPr id="18" name="card-body">
            <a:extLst xmlns:a="http://schemas.openxmlformats.org/drawingml/2006/main">
              <a:ext uri="{FF2B5EF4-FFF2-40B4-BE49-F238E27FC236}">
                <a16:creationId xmlns:a16="http://schemas.microsoft.com/office/drawing/2014/main" id="{FA4487EE-DC86-4244-9DC0-1C80AE22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4676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Durée de situation négative : point de vigilance fiscal et comptable.</a:t>
            </a:r>
          </a:p>
        </p:txBody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9D180588-9988-4066-85FB-B64BC16C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accent">
            <a:extLst xmlns:a="http://schemas.openxmlformats.org/drawingml/2006/main">
              <a:ext uri="{FF2B5EF4-FFF2-40B4-BE49-F238E27FC236}">
                <a16:creationId xmlns:a16="http://schemas.microsoft.com/office/drawing/2014/main" id="{1CD09903-A328-4BC6-ADA1-CC1F2790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6E0307A1-EE30-4FFC-8496-F3A6E73B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467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Montant prélevable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70EA23F8-5232-4916-8C04-6F8FEB3D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81450"/>
            <a:ext cx="4676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Retrait comparé au maximum disponible après conservation d'une réserve.</a:t>
            </a:r>
          </a:p>
        </p:txBody>
      </p:sp>
    </p:spTree>
    <p:extLst>
      <p:ext uri="{BB962C8B-B14F-4D97-AF65-F5344CB8AC3E}">
        <p14:creationId xmlns:p14="http://schemas.microsoft.com/office/powerpoint/2010/main" val="1833917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268C3F08-B1DB-4709-A612-9AA7A864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0B9FBD0-71C5-4C29-B005-433387E3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06 - Workflow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4A694B-7152-4D64-B772-F85FFB1E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Workflow dirigeant et comptable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807043D-DCAA-4C1C-BA01-380B9080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8E4E71C0-2170-4B90-859A-3B6F9131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29B344D-4313-42C9-A496-3FA16B0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7/19</a:t>
            </a:r>
          </a:p>
        </p:txBody>
      </p:sp>
      <p:sp>
        <p:nvSpPr>
          <p:cNvPr id="7" name="num">
            <a:extLst xmlns:a="http://schemas.openxmlformats.org/drawingml/2006/main">
              <a:ext uri="{FF2B5EF4-FFF2-40B4-BE49-F238E27FC236}">
                <a16:creationId xmlns:a16="http://schemas.microsoft.com/office/drawing/2014/main" id="{84D1B325-3504-485D-B0E0-3B59D988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-text">
            <a:extLst xmlns:a="http://schemas.openxmlformats.org/drawingml/2006/main">
              <a:ext uri="{FF2B5EF4-FFF2-40B4-BE49-F238E27FC236}">
                <a16:creationId xmlns:a16="http://schemas.microsoft.com/office/drawing/2014/main" id="{531D2AC6-E258-4DE1-B8E2-0972DCD6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step-title">
            <a:extLst xmlns:a="http://schemas.openxmlformats.org/drawingml/2006/main">
              <a:ext uri="{FF2B5EF4-FFF2-40B4-BE49-F238E27FC236}">
                <a16:creationId xmlns:a16="http://schemas.microsoft.com/office/drawing/2014/main" id="{AD05DE33-46AC-4015-9379-06F71DBC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954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Dirigeant</a:t>
            </a:r>
          </a:p>
        </p:txBody>
      </p:sp>
      <p:sp>
        <p:nvSpPr>
          <p:cNvPr id="10" name="step-body">
            <a:extLst xmlns:a="http://schemas.openxmlformats.org/drawingml/2006/main">
              <a:ext uri="{FF2B5EF4-FFF2-40B4-BE49-F238E27FC236}">
                <a16:creationId xmlns:a16="http://schemas.microsoft.com/office/drawing/2014/main" id="{45628EF1-8FF7-4CCD-ABB9-63D170D9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5737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Encode les données et demande un retrait.</a:t>
            </a:r>
          </a:p>
        </p:txBody>
      </p:sp>
      <p:sp>
        <p:nvSpPr>
          <p:cNvPr id="11" name="num">
            <a:extLst xmlns:a="http://schemas.openxmlformats.org/drawingml/2006/main">
              <a:ext uri="{FF2B5EF4-FFF2-40B4-BE49-F238E27FC236}">
                <a16:creationId xmlns:a16="http://schemas.microsoft.com/office/drawing/2014/main" id="{399ADCE6-2B54-4B8C-A201-B22D4074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-text">
            <a:extLst xmlns:a="http://schemas.openxmlformats.org/drawingml/2006/main">
              <a:ext uri="{FF2B5EF4-FFF2-40B4-BE49-F238E27FC236}">
                <a16:creationId xmlns:a16="http://schemas.microsoft.com/office/drawing/2014/main" id="{60ACBB30-6E30-4A9E-8525-046DE36A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step-title">
            <a:extLst xmlns:a="http://schemas.openxmlformats.org/drawingml/2006/main">
              <a:ext uri="{FF2B5EF4-FFF2-40B4-BE49-F238E27FC236}">
                <a16:creationId xmlns:a16="http://schemas.microsoft.com/office/drawing/2014/main" id="{FB29D561-1F63-45A9-90CE-A1940B73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95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4" name="step-body">
            <a:extLst xmlns:a="http://schemas.openxmlformats.org/drawingml/2006/main">
              <a:ext uri="{FF2B5EF4-FFF2-40B4-BE49-F238E27FC236}">
                <a16:creationId xmlns:a16="http://schemas.microsoft.com/office/drawing/2014/main" id="{0316EAC1-B704-46A0-916D-C854F2FF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Contrôle l'accès, calcule les indicateurs et persiste le résultat.</a:t>
            </a:r>
          </a:p>
        </p:txBody>
      </p:sp>
      <p:sp>
        <p:nvSpPr>
          <p:cNvPr id="15" name="num">
            <a:extLst xmlns:a="http://schemas.openxmlformats.org/drawingml/2006/main">
              <a:ext uri="{FF2B5EF4-FFF2-40B4-BE49-F238E27FC236}">
                <a16:creationId xmlns:a16="http://schemas.microsoft.com/office/drawing/2014/main" id="{1425DA11-DCD5-46D6-ADAC-84402564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-text">
            <a:extLst xmlns:a="http://schemas.openxmlformats.org/drawingml/2006/main">
              <a:ext uri="{FF2B5EF4-FFF2-40B4-BE49-F238E27FC236}">
                <a16:creationId xmlns:a16="http://schemas.microsoft.com/office/drawing/2014/main" id="{50E1CC29-AFB4-4C8A-9063-F77D977A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step-title">
            <a:extLst xmlns:a="http://schemas.openxmlformats.org/drawingml/2006/main">
              <a:ext uri="{FF2B5EF4-FFF2-40B4-BE49-F238E27FC236}">
                <a16:creationId xmlns:a16="http://schemas.microsoft.com/office/drawing/2014/main" id="{FA4718E7-6864-415D-852F-96B952B7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95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Comptable</a:t>
            </a:r>
          </a:p>
        </p:txBody>
      </p:sp>
      <p:sp>
        <p:nvSpPr>
          <p:cNvPr id="18" name="step-body">
            <a:extLst xmlns:a="http://schemas.openxmlformats.org/drawingml/2006/main">
              <a:ext uri="{FF2B5EF4-FFF2-40B4-BE49-F238E27FC236}">
                <a16:creationId xmlns:a16="http://schemas.microsoft.com/office/drawing/2014/main" id="{E11EBB2A-87E1-4A08-BB56-86AFF342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Consulte ou valide les flux selon le dossier client.</a:t>
            </a:r>
          </a:p>
        </p:txBody>
      </p:sp>
      <p:sp>
        <p:nvSpPr>
          <p:cNvPr id="19" name="num">
            <a:extLst xmlns:a="http://schemas.openxmlformats.org/drawingml/2006/main">
              <a:ext uri="{FF2B5EF4-FFF2-40B4-BE49-F238E27FC236}">
                <a16:creationId xmlns:a16="http://schemas.microsoft.com/office/drawing/2014/main" id="{BE8E3E92-C367-4E8A-BF4D-6C5B5436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um-text">
            <a:extLst xmlns:a="http://schemas.openxmlformats.org/drawingml/2006/main">
              <a:ext uri="{FF2B5EF4-FFF2-40B4-BE49-F238E27FC236}">
                <a16:creationId xmlns:a16="http://schemas.microsoft.com/office/drawing/2014/main" id="{983D0F50-E507-4886-AB3F-8AD473E4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step-title">
            <a:extLst xmlns:a="http://schemas.openxmlformats.org/drawingml/2006/main">
              <a:ext uri="{FF2B5EF4-FFF2-40B4-BE49-F238E27FC236}">
                <a16:creationId xmlns:a16="http://schemas.microsoft.com/office/drawing/2014/main" id="{C90E467A-6DE8-44F0-9102-1E3BA808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Décision</a:t>
            </a:r>
          </a:p>
        </p:txBody>
      </p:sp>
      <p:sp>
        <p:nvSpPr>
          <p:cNvPr id="22" name="step-body">
            <a:extLst xmlns:a="http://schemas.openxmlformats.org/drawingml/2006/main">
              <a:ext uri="{FF2B5EF4-FFF2-40B4-BE49-F238E27FC236}">
                <a16:creationId xmlns:a16="http://schemas.microsoft.com/office/drawing/2014/main" id="{096B6DBA-FF7F-493D-BB7B-1DB77037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Le retrait est accepté, surveillé ou déconseillé.</a:t>
            </a:r>
          </a:p>
        </p:txBody>
      </p:sp>
    </p:spTree>
    <p:extLst>
      <p:ext uri="{BB962C8B-B14F-4D97-AF65-F5344CB8AC3E}">
        <p14:creationId xmlns:p14="http://schemas.microsoft.com/office/powerpoint/2010/main" val="7074594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F32F5BD-8577-45E6-899A-0F21FAC7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8A902E15-CFEE-4FF1-8266-F7A3395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07 - Données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0E998B-CD95-44F2-B132-F94E541E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Données nécessaires au calcul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0EDC10F-705E-433C-A1CB-A4DE542E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A02387E1-A006-468E-B1E8-F7310AAD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4760634-24C0-466D-B4D3-473A36BD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8/19</a:t>
            </a:r>
          </a:p>
        </p:txBody>
      </p:sp>
      <p:sp>
        <p:nvSpPr>
          <p:cNvPr id="7" name="row">
            <a:extLst xmlns:a="http://schemas.openxmlformats.org/drawingml/2006/main">
              <a:ext uri="{FF2B5EF4-FFF2-40B4-BE49-F238E27FC236}">
                <a16:creationId xmlns:a16="http://schemas.microsoft.com/office/drawing/2014/main" id="{17833EAA-3AA7-4C2E-9E79-BE609752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47800"/>
            <a:ext cx="10096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data">
            <a:extLst xmlns:a="http://schemas.openxmlformats.org/drawingml/2006/main">
              <a:ext uri="{FF2B5EF4-FFF2-40B4-BE49-F238E27FC236}">
                <a16:creationId xmlns:a16="http://schemas.microsoft.com/office/drawing/2014/main" id="{41A960F7-8E37-4259-9692-A5883174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906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Chiffre d'affaires mensuel</a:t>
            </a:r>
          </a:p>
        </p:txBody>
      </p:sp>
      <p:sp>
        <p:nvSpPr>
          <p:cNvPr id="9" name="why">
            <a:extLst xmlns:a="http://schemas.openxmlformats.org/drawingml/2006/main">
              <a:ext uri="{FF2B5EF4-FFF2-40B4-BE49-F238E27FC236}">
                <a16:creationId xmlns:a16="http://schemas.microsoft.com/office/drawing/2014/main" id="{EBC1CAAA-8002-4439-967F-0A8A37B4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906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Volume d'activité moyen</a:t>
            </a:r>
          </a:p>
        </p:txBody>
      </p:sp>
      <p:sp>
        <p:nvSpPr>
          <p:cNvPr id="10" name="row">
            <a:extLst xmlns:a="http://schemas.openxmlformats.org/drawingml/2006/main">
              <a:ext uri="{FF2B5EF4-FFF2-40B4-BE49-F238E27FC236}">
                <a16:creationId xmlns:a16="http://schemas.microsoft.com/office/drawing/2014/main" id="{8651015C-9BBD-4073-9693-FF1EE799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10096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data">
            <a:extLst xmlns:a="http://schemas.openxmlformats.org/drawingml/2006/main">
              <a:ext uri="{FF2B5EF4-FFF2-40B4-BE49-F238E27FC236}">
                <a16:creationId xmlns:a16="http://schemas.microsoft.com/office/drawing/2014/main" id="{D91B7092-744F-41FB-9CDC-26B3C09A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955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Charges mensuelles</a:t>
            </a:r>
          </a:p>
        </p:txBody>
      </p:sp>
      <p:sp>
        <p:nvSpPr>
          <p:cNvPr id="12" name="why">
            <a:extLst xmlns:a="http://schemas.openxmlformats.org/drawingml/2006/main">
              <a:ext uri="{FF2B5EF4-FFF2-40B4-BE49-F238E27FC236}">
                <a16:creationId xmlns:a16="http://schemas.microsoft.com/office/drawing/2014/main" id="{B867691E-0E8A-4C4D-B04E-B75FDBBA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955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Besoin minimal pour survivre plusieurs mois</a:t>
            </a:r>
          </a:p>
        </p:txBody>
      </p:sp>
      <p:sp>
        <p:nvSpPr>
          <p:cNvPr id="13" name="row">
            <a:extLst xmlns:a="http://schemas.openxmlformats.org/drawingml/2006/main">
              <a:ext uri="{FF2B5EF4-FFF2-40B4-BE49-F238E27FC236}">
                <a16:creationId xmlns:a16="http://schemas.microsoft.com/office/drawing/2014/main" id="{A59576CE-AD16-4B1C-8B8D-7969791C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0096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data">
            <a:extLst xmlns:a="http://schemas.openxmlformats.org/drawingml/2006/main">
              <a:ext uri="{FF2B5EF4-FFF2-40B4-BE49-F238E27FC236}">
                <a16:creationId xmlns:a16="http://schemas.microsoft.com/office/drawing/2014/main" id="{4A8009C3-58CB-4981-B02A-B6C91835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00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Trésorerie disponible</a:t>
            </a:r>
          </a:p>
        </p:txBody>
      </p:sp>
      <p:sp>
        <p:nvSpPr>
          <p:cNvPr id="15" name="why">
            <a:extLst xmlns:a="http://schemas.openxmlformats.org/drawingml/2006/main">
              <a:ext uri="{FF2B5EF4-FFF2-40B4-BE49-F238E27FC236}">
                <a16:creationId xmlns:a16="http://schemas.microsoft.com/office/drawing/2014/main" id="{0CFD248C-31AF-48F6-8FB4-DC5AC7B7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03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Liquidité réellement présente</a:t>
            </a:r>
          </a:p>
        </p:txBody>
      </p:sp>
      <p:sp>
        <p:nvSpPr>
          <p:cNvPr id="16" name="row">
            <a:extLst xmlns:a="http://schemas.openxmlformats.org/drawingml/2006/main">
              <a:ext uri="{FF2B5EF4-FFF2-40B4-BE49-F238E27FC236}">
                <a16:creationId xmlns:a16="http://schemas.microsoft.com/office/drawing/2014/main" id="{0ED46A27-2B64-41CE-BB15-253BD5EB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10096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data">
            <a:extLst xmlns:a="http://schemas.openxmlformats.org/drawingml/2006/main">
              <a:ext uri="{FF2B5EF4-FFF2-40B4-BE49-F238E27FC236}">
                <a16:creationId xmlns:a16="http://schemas.microsoft.com/office/drawing/2014/main" id="{F69EC16B-F8A8-4243-9B1B-8F737288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052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Solde compte courant</a:t>
            </a:r>
          </a:p>
        </p:txBody>
      </p:sp>
      <p:sp>
        <p:nvSpPr>
          <p:cNvPr id="18" name="why">
            <a:extLst xmlns:a="http://schemas.openxmlformats.org/drawingml/2006/main">
              <a:ext uri="{FF2B5EF4-FFF2-40B4-BE49-F238E27FC236}">
                <a16:creationId xmlns:a16="http://schemas.microsoft.com/office/drawing/2014/main" id="{1E6563D7-7E25-4B64-96DF-9946B583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052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Situation dirigeant créditrice ou débitrice</a:t>
            </a:r>
          </a:p>
        </p:txBody>
      </p:sp>
      <p:sp>
        <p:nvSpPr>
          <p:cNvPr id="19" name="row">
            <a:extLst xmlns:a="http://schemas.openxmlformats.org/drawingml/2006/main">
              <a:ext uri="{FF2B5EF4-FFF2-40B4-BE49-F238E27FC236}">
                <a16:creationId xmlns:a16="http://schemas.microsoft.com/office/drawing/2014/main" id="{51EADA1D-D4F2-4FB7-8D27-3A23DC92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10096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0" name="data">
            <a:extLst xmlns:a="http://schemas.openxmlformats.org/drawingml/2006/main">
              <a:ext uri="{FF2B5EF4-FFF2-40B4-BE49-F238E27FC236}">
                <a16:creationId xmlns:a16="http://schemas.microsoft.com/office/drawing/2014/main" id="{DC7D721C-2B56-4491-8928-72479ECF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00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Montant souhaité</a:t>
            </a:r>
          </a:p>
        </p:txBody>
      </p:sp>
      <p:sp>
        <p:nvSpPr>
          <p:cNvPr id="21" name="why">
            <a:extLst xmlns:a="http://schemas.openxmlformats.org/drawingml/2006/main">
              <a:ext uri="{FF2B5EF4-FFF2-40B4-BE49-F238E27FC236}">
                <a16:creationId xmlns:a16="http://schemas.microsoft.com/office/drawing/2014/main" id="{A267B082-4ED1-448F-B8CF-E82AA70F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100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Retrait demandé à comparer au maximum autorisé</a:t>
            </a:r>
          </a:p>
        </p:txBody>
      </p:sp>
    </p:spTree>
    <p:extLst>
      <p:ext uri="{BB962C8B-B14F-4D97-AF65-F5344CB8AC3E}">
        <p14:creationId xmlns:p14="http://schemas.microsoft.com/office/powerpoint/2010/main" val="18223381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E16478D0-FD2E-4ACA-9C87-B411BA3A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243DE40-7662-4B58-BAF3-5ED56D59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08 - Calculs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62F4C5-3BDA-4EE7-A378-22E041B9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 quatre calculs techniques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324EDC4-F2E1-46E7-A064-E91F169C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B472FB57-5360-4BCA-8F52-EB603344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1A8A710-D03B-40D9-97A1-C976DC9D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9/19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CDA17D95-E043-4160-B381-16BDB2E9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C3E32933-DD6D-4EE8-89F7-B85355C2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C4E791C4-C101-4511-81F5-3333D841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467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1. Couverture de trésorerie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55864F6C-0245-4914-ABED-0BBF65C2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676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trésorerie / charges mensuelles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Objectif : mesurer la réserve en mois.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14DCDB5D-3DDE-4D2E-BC59-5737A22D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4950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accent">
            <a:extLst xmlns:a="http://schemas.openxmlformats.org/drawingml/2006/main">
              <a:ext uri="{FF2B5EF4-FFF2-40B4-BE49-F238E27FC236}">
                <a16:creationId xmlns:a16="http://schemas.microsoft.com/office/drawing/2014/main" id="{B8485FB1-D94D-4650-8DF2-FAF518D4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49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C1A6B7B9-4C00-4899-9904-4DAC85E2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76400"/>
            <a:ext cx="467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2. Ratio CA / charges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300626B3-3C24-4F14-83A1-4619B2CA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4676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CA mensuel / charges mensuelles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Objectif : mesurer la marge d'exploitation.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E8369A0B-DEAF-47CB-A437-744776BC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accent">
            <a:extLst xmlns:a="http://schemas.openxmlformats.org/drawingml/2006/main">
              <a:ext uri="{FF2B5EF4-FFF2-40B4-BE49-F238E27FC236}">
                <a16:creationId xmlns:a16="http://schemas.microsoft.com/office/drawing/2014/main" id="{D87C4243-8E92-45CE-A259-9B773875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title">
            <a:extLst xmlns:a="http://schemas.openxmlformats.org/drawingml/2006/main">
              <a:ext uri="{FF2B5EF4-FFF2-40B4-BE49-F238E27FC236}">
                <a16:creationId xmlns:a16="http://schemas.microsoft.com/office/drawing/2014/main" id="{018E5CB3-96FB-44B7-A62E-B1DD540D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467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3. Durée compte courant débiteur</a:t>
            </a:r>
          </a:p>
        </p:txBody>
      </p:sp>
      <p:sp>
        <p:nvSpPr>
          <p:cNvPr id="18" name="card-body">
            <a:extLst xmlns:a="http://schemas.openxmlformats.org/drawingml/2006/main">
              <a:ext uri="{FF2B5EF4-FFF2-40B4-BE49-F238E27FC236}">
                <a16:creationId xmlns:a16="http://schemas.microsoft.com/office/drawing/2014/main" id="{E6575491-A4AF-4F48-9AF3-03CB3C08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4676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nombre de jours avec solde négatif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Objectif : détecter une situation durable.</a:t>
            </a:r>
          </a:p>
        </p:txBody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F22B1158-7ABE-48AE-A091-06B5B01D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accent">
            <a:extLst xmlns:a="http://schemas.openxmlformats.org/drawingml/2006/main">
              <a:ext uri="{FF2B5EF4-FFF2-40B4-BE49-F238E27FC236}">
                <a16:creationId xmlns:a16="http://schemas.microsoft.com/office/drawing/2014/main" id="{30C63BE5-B8BF-40AF-9D3B-3FEF8B6A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CCEBF9FE-E36C-4C78-8031-16FB4B34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00450"/>
            <a:ext cx="4676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4. Maximum prélevable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DFC4E590-46A1-4BBC-81E3-03804FE9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81450"/>
            <a:ext cx="4676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trésorerie - 3 mois de charges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Objectif : préserver une réserve.</a:t>
            </a:r>
          </a:p>
        </p:txBody>
      </p:sp>
    </p:spTree>
    <p:extLst>
      <p:ext uri="{BB962C8B-B14F-4D97-AF65-F5344CB8AC3E}">
        <p14:creationId xmlns:p14="http://schemas.microsoft.com/office/powerpoint/2010/main" val="14767675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B146E46-3590-49C5-991A-F81670FB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E6572C7-34F7-4014-B6AE-A32EBEE1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09 - Exemple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0BD85E-EB59-4AD1-9993-A0CDA538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Exemple chiffré à expliquer oralement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4CA3A04-15E1-4071-AB9D-9A33D043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641FACD4-7B5D-4E65-9915-EAAC6014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9ACF175-44CE-4F61-B69F-2BE13F26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10/19</a:t>
            </a:r>
          </a:p>
        </p:txBody>
      </p:sp>
      <p:sp>
        <p:nvSpPr>
          <p:cNvPr id="7" name="data">
            <a:extLst xmlns:a="http://schemas.openxmlformats.org/drawingml/2006/main">
              <a:ext uri="{FF2B5EF4-FFF2-40B4-BE49-F238E27FC236}">
                <a16:creationId xmlns:a16="http://schemas.microsoft.com/office/drawing/2014/main" id="{F0DC7179-ABD4-4F28-975F-27B86157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Données : CA 10 000 EUR - charges 2 000 EUR - trésorerie 7 500 EUR - retrait demandé 2 000 EUR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E3FE66A4-6913-4A96-B049-A69A5CFC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accent">
            <a:extLst xmlns:a="http://schemas.openxmlformats.org/drawingml/2006/main">
              <a:ext uri="{FF2B5EF4-FFF2-40B4-BE49-F238E27FC236}">
                <a16:creationId xmlns:a16="http://schemas.microsoft.com/office/drawing/2014/main" id="{A3DA5F9A-2593-4D37-B907-25877F98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71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">
            <a:extLst xmlns:a="http://schemas.openxmlformats.org/drawingml/2006/main">
              <a:ext uri="{FF2B5EF4-FFF2-40B4-BE49-F238E27FC236}">
                <a16:creationId xmlns:a16="http://schemas.microsoft.com/office/drawing/2014/main" id="{89A8605C-0214-4A08-AEA3-87EF92DD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Trésorerie</a:t>
            </a:r>
          </a:p>
        </p:txBody>
      </p:sp>
      <p:sp>
        <p:nvSpPr>
          <p:cNvPr id="11" name="card-body">
            <a:extLst xmlns:a="http://schemas.openxmlformats.org/drawingml/2006/main">
              <a:ext uri="{FF2B5EF4-FFF2-40B4-BE49-F238E27FC236}">
                <a16:creationId xmlns:a16="http://schemas.microsoft.com/office/drawing/2014/main" id="{AEA67A48-085D-4A5B-A32C-6920057D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8194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7 500 / 2 000 = 3,75 mois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=&gt; VERT</a:t>
            </a:r>
          </a:p>
        </p:txBody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B790AE92-06C2-40B3-A31D-4CEF248A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accent">
            <a:extLst xmlns:a="http://schemas.openxmlformats.org/drawingml/2006/main">
              <a:ext uri="{FF2B5EF4-FFF2-40B4-BE49-F238E27FC236}">
                <a16:creationId xmlns:a16="http://schemas.microsoft.com/office/drawing/2014/main" id="{902FAFEF-70C3-40C0-AB9E-1C5A3C2B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571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">
            <a:extLst xmlns:a="http://schemas.openxmlformats.org/drawingml/2006/main">
              <a:ext uri="{FF2B5EF4-FFF2-40B4-BE49-F238E27FC236}">
                <a16:creationId xmlns:a16="http://schemas.microsoft.com/office/drawing/2014/main" id="{C5B51AA5-CA36-4BBB-BBB1-FA723767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Ratio CA/charges</a:t>
            </a:r>
          </a:p>
        </p:txBody>
      </p:sp>
      <p:sp>
        <p:nvSpPr>
          <p:cNvPr id="15" name="card-body">
            <a:extLst xmlns:a="http://schemas.openxmlformats.org/drawingml/2006/main">
              <a:ext uri="{FF2B5EF4-FFF2-40B4-BE49-F238E27FC236}">
                <a16:creationId xmlns:a16="http://schemas.microsoft.com/office/drawing/2014/main" id="{7B66C2B8-78BB-434A-9CD8-2DD77D53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7950"/>
            <a:ext cx="28194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10 000 / 2 000 = 5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=&gt; VERT</a:t>
            </a:r>
          </a:p>
        </p:txBody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695354E6-3C91-4262-BA91-B4C0AB83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accent">
            <a:extLst xmlns:a="http://schemas.openxmlformats.org/drawingml/2006/main">
              <a:ext uri="{FF2B5EF4-FFF2-40B4-BE49-F238E27FC236}">
                <a16:creationId xmlns:a16="http://schemas.microsoft.com/office/drawing/2014/main" id="{F2F6E909-F476-45AA-9B17-479585A8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571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">
            <a:extLst xmlns:a="http://schemas.openxmlformats.org/drawingml/2006/main">
              <a:ext uri="{FF2B5EF4-FFF2-40B4-BE49-F238E27FC236}">
                <a16:creationId xmlns:a16="http://schemas.microsoft.com/office/drawing/2014/main" id="{F0223E09-A1F3-4905-B128-A0C6E788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Montant max</a:t>
            </a:r>
          </a:p>
        </p:txBody>
      </p:sp>
      <p:sp>
        <p:nvSpPr>
          <p:cNvPr id="19" name="card-body">
            <a:extLst xmlns:a="http://schemas.openxmlformats.org/drawingml/2006/main">
              <a:ext uri="{FF2B5EF4-FFF2-40B4-BE49-F238E27FC236}">
                <a16:creationId xmlns:a16="http://schemas.microsoft.com/office/drawing/2014/main" id="{58E20D75-1366-4B60-90CE-EB70918C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28194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7 500 - (2 000 x 3) = 1 500 EUR</a:t>
            </a:r>
          </a:p>
        </p:txBody>
      </p:sp>
      <p:sp>
        <p:nvSpPr>
          <p:cNvPr id="20" name="result">
            <a:extLst xmlns:a="http://schemas.openxmlformats.org/drawingml/2006/main">
              <a:ext uri="{FF2B5EF4-FFF2-40B4-BE49-F238E27FC236}">
                <a16:creationId xmlns:a16="http://schemas.microsoft.com/office/drawing/2014/main" id="{A60CC0A3-561F-4806-B877-354389D9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Le retrait demandé dépasse le maximum calculé : la décision globale devient ROUGE malgré deux indicateurs verts.</a:t>
            </a:r>
          </a:p>
        </p:txBody>
      </p:sp>
    </p:spTree>
    <p:extLst>
      <p:ext uri="{BB962C8B-B14F-4D97-AF65-F5344CB8AC3E}">
        <p14:creationId xmlns:p14="http://schemas.microsoft.com/office/powerpoint/2010/main" val="473073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792FA74D-E404-49BE-9588-FC527555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C4132BC-CAC5-4700-B45A-D9534FE0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10 - Grille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9FE2B4-6898-4EAB-8D9E-5B1C78A3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Grille tricolore et règle de décision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D06D264-9E0D-4EE9-A6D2-F86067D8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210184E2-15C7-47B4-A5DD-4FCD39E9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E2D64F-8A06-4483-BEFF-31B53566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11/19</a:t>
            </a:r>
          </a:p>
        </p:txBody>
      </p:sp>
      <p:sp>
        <p:nvSpPr>
          <p:cNvPr id="7" name="head">
            <a:extLst xmlns:a="http://schemas.openxmlformats.org/drawingml/2006/main">
              <a:ext uri="{FF2B5EF4-FFF2-40B4-BE49-F238E27FC236}">
                <a16:creationId xmlns:a16="http://schemas.microsoft.com/office/drawing/2014/main" id="{312AE6BC-5323-4377-B60A-8E7D973B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Critère</a:t>
            </a:r>
          </a:p>
        </p:txBody>
      </p:sp>
      <p:sp>
        <p:nvSpPr>
          <p:cNvPr id="8" name="head">
            <a:extLst xmlns:a="http://schemas.openxmlformats.org/drawingml/2006/main">
              <a:ext uri="{FF2B5EF4-FFF2-40B4-BE49-F238E27FC236}">
                <a16:creationId xmlns:a16="http://schemas.microsoft.com/office/drawing/2014/main" id="{B93437E3-D56B-497D-A5B0-9FC9BE43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VERT</a:t>
            </a:r>
          </a:p>
        </p:txBody>
      </p:sp>
      <p:sp>
        <p:nvSpPr>
          <p:cNvPr id="9" name="head">
            <a:extLst xmlns:a="http://schemas.openxmlformats.org/drawingml/2006/main">
              <a:ext uri="{FF2B5EF4-FFF2-40B4-BE49-F238E27FC236}">
                <a16:creationId xmlns:a16="http://schemas.microsoft.com/office/drawing/2014/main" id="{B43470B6-5933-4E95-B362-EC36246D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76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ORANGE</a:t>
            </a:r>
          </a:p>
        </p:txBody>
      </p:sp>
      <p:sp>
        <p:nvSpPr>
          <p:cNvPr id="10" name="head">
            <a:extLst xmlns:a="http://schemas.openxmlformats.org/drawingml/2006/main">
              <a:ext uri="{FF2B5EF4-FFF2-40B4-BE49-F238E27FC236}">
                <a16:creationId xmlns:a16="http://schemas.microsoft.com/office/drawing/2014/main" id="{F96A504C-DE8B-4105-A756-33B16FA5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ROUGE</a:t>
            </a:r>
          </a:p>
        </p:txBody>
      </p:sp>
      <p:sp>
        <p:nvSpPr>
          <p:cNvPr id="11" name="head">
            <a:extLst xmlns:a="http://schemas.openxmlformats.org/drawingml/2006/main">
              <a:ext uri="{FF2B5EF4-FFF2-40B4-BE49-F238E27FC236}">
                <a16:creationId xmlns:a16="http://schemas.microsoft.com/office/drawing/2014/main" id="{98D8DA18-1D86-4FFF-8BE4-61D2E4D7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476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Sens</a:t>
            </a:r>
          </a:p>
        </p:txBody>
      </p:sp>
      <p:sp>
        <p:nvSpPr>
          <p:cNvPr id="12" name="row">
            <a:extLst xmlns:a="http://schemas.openxmlformats.org/drawingml/2006/main">
              <a:ext uri="{FF2B5EF4-FFF2-40B4-BE49-F238E27FC236}">
                <a16:creationId xmlns:a16="http://schemas.microsoft.com/office/drawing/2014/main" id="{61CD3AA9-31F0-4FE6-BCE2-404A6316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0953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cell">
            <a:extLst xmlns:a="http://schemas.openxmlformats.org/drawingml/2006/main">
              <a:ext uri="{FF2B5EF4-FFF2-40B4-BE49-F238E27FC236}">
                <a16:creationId xmlns:a16="http://schemas.microsoft.com/office/drawing/2014/main" id="{9F52E7DF-5AD4-4ABF-953F-B5FC8DF1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Trésorerie</a:t>
            </a:r>
          </a:p>
        </p:txBody>
      </p:sp>
      <p:sp>
        <p:nvSpPr>
          <p:cNvPr id="14" name="cell">
            <a:extLst xmlns:a="http://schemas.openxmlformats.org/drawingml/2006/main">
              <a:ext uri="{FF2B5EF4-FFF2-40B4-BE49-F238E27FC236}">
                <a16:creationId xmlns:a16="http://schemas.microsoft.com/office/drawing/2014/main" id="{4CF62DC5-41FA-458E-956A-0B97099D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&gt;= 3 mois</a:t>
            </a:r>
          </a:p>
        </p:txBody>
      </p:sp>
      <p:sp>
        <p:nvSpPr>
          <p:cNvPr id="15" name="cell">
            <a:extLst xmlns:a="http://schemas.openxmlformats.org/drawingml/2006/main">
              <a:ext uri="{FF2B5EF4-FFF2-40B4-BE49-F238E27FC236}">
                <a16:creationId xmlns:a16="http://schemas.microsoft.com/office/drawing/2014/main" id="{18931D02-588C-4446-AB52-BBE3BC5F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9E0B"/>
                </a:solidFill>
                <a:latin typeface="Aptos"/>
                <a:ea typeface="Aptos"/>
                <a:cs typeface="Aptos"/>
              </a:rPr>
              <a:t>1 à 3 mois</a:t>
            </a:r>
          </a:p>
        </p:txBody>
      </p:sp>
      <p:sp>
        <p:nvSpPr>
          <p:cNvPr id="16" name="cell">
            <a:extLst xmlns:a="http://schemas.openxmlformats.org/drawingml/2006/main">
              <a:ext uri="{FF2B5EF4-FFF2-40B4-BE49-F238E27FC236}">
                <a16:creationId xmlns:a16="http://schemas.microsoft.com/office/drawing/2014/main" id="{1FA7D349-5A92-4114-B61C-3E9D177C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2626"/>
                </a:solidFill>
                <a:latin typeface="Aptos"/>
                <a:ea typeface="Aptos"/>
                <a:cs typeface="Aptos"/>
              </a:rPr>
              <a:t>&lt; 1 mois</a:t>
            </a:r>
          </a:p>
        </p:txBody>
      </p:sp>
      <p:sp>
        <p:nvSpPr>
          <p:cNvPr id="17" name="cell">
            <a:extLst xmlns:a="http://schemas.openxmlformats.org/drawingml/2006/main">
              <a:ext uri="{FF2B5EF4-FFF2-40B4-BE49-F238E27FC236}">
                <a16:creationId xmlns:a16="http://schemas.microsoft.com/office/drawing/2014/main" id="{73A67DBA-21C1-4195-A1BE-A8195540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Réserve</a:t>
            </a:r>
          </a:p>
        </p:txBody>
      </p:sp>
      <p:sp>
        <p:nvSpPr>
          <p:cNvPr id="18" name="row">
            <a:extLst xmlns:a="http://schemas.openxmlformats.org/drawingml/2006/main">
              <a:ext uri="{FF2B5EF4-FFF2-40B4-BE49-F238E27FC236}">
                <a16:creationId xmlns:a16="http://schemas.microsoft.com/office/drawing/2014/main" id="{D8346111-012A-4FC1-B726-76741A2B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0953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cell">
            <a:extLst xmlns:a="http://schemas.openxmlformats.org/drawingml/2006/main">
              <a:ext uri="{FF2B5EF4-FFF2-40B4-BE49-F238E27FC236}">
                <a16:creationId xmlns:a16="http://schemas.microsoft.com/office/drawing/2014/main" id="{32B54BB7-232A-45C8-BDF3-CABB0FBA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CA / charges</a:t>
            </a:r>
          </a:p>
        </p:txBody>
      </p:sp>
      <p:sp>
        <p:nvSpPr>
          <p:cNvPr id="20" name="cell">
            <a:extLst xmlns:a="http://schemas.openxmlformats.org/drawingml/2006/main">
              <a:ext uri="{FF2B5EF4-FFF2-40B4-BE49-F238E27FC236}">
                <a16:creationId xmlns:a16="http://schemas.microsoft.com/office/drawing/2014/main" id="{CBAFC29C-D1AD-45EB-942D-03C97F92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&gt;= 1,3</a:t>
            </a:r>
          </a:p>
        </p:txBody>
      </p:sp>
      <p:sp>
        <p:nvSpPr>
          <p:cNvPr id="21" name="cell">
            <a:extLst xmlns:a="http://schemas.openxmlformats.org/drawingml/2006/main">
              <a:ext uri="{FF2B5EF4-FFF2-40B4-BE49-F238E27FC236}">
                <a16:creationId xmlns:a16="http://schemas.microsoft.com/office/drawing/2014/main" id="{19C64CE6-31B2-45C0-9FC2-309EAD8F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05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9E0B"/>
                </a:solidFill>
                <a:latin typeface="Aptos"/>
                <a:ea typeface="Aptos"/>
                <a:cs typeface="Aptos"/>
              </a:rPr>
              <a:t>1,0 à 1,3</a:t>
            </a:r>
          </a:p>
        </p:txBody>
      </p:sp>
      <p:sp>
        <p:nvSpPr>
          <p:cNvPr id="22" name="cell">
            <a:extLst xmlns:a="http://schemas.openxmlformats.org/drawingml/2006/main">
              <a:ext uri="{FF2B5EF4-FFF2-40B4-BE49-F238E27FC236}">
                <a16:creationId xmlns:a16="http://schemas.microsoft.com/office/drawing/2014/main" id="{965CFCA4-8D42-42A2-A572-A051998C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2626"/>
                </a:solidFill>
                <a:latin typeface="Aptos"/>
                <a:ea typeface="Aptos"/>
                <a:cs typeface="Aptos"/>
              </a:rPr>
              <a:t>&lt; 1,0</a:t>
            </a:r>
          </a:p>
        </p:txBody>
      </p:sp>
      <p:sp>
        <p:nvSpPr>
          <p:cNvPr id="23" name="cell">
            <a:extLst xmlns:a="http://schemas.openxmlformats.org/drawingml/2006/main">
              <a:ext uri="{FF2B5EF4-FFF2-40B4-BE49-F238E27FC236}">
                <a16:creationId xmlns:a16="http://schemas.microsoft.com/office/drawing/2014/main" id="{D62864C7-B0E2-4AA5-A87B-EBF11AAA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Rentabilité</a:t>
            </a:r>
          </a:p>
        </p:txBody>
      </p:sp>
      <p:sp>
        <p:nvSpPr>
          <p:cNvPr id="24" name="row">
            <a:extLst xmlns:a="http://schemas.openxmlformats.org/drawingml/2006/main">
              <a:ext uri="{FF2B5EF4-FFF2-40B4-BE49-F238E27FC236}">
                <a16:creationId xmlns:a16="http://schemas.microsoft.com/office/drawing/2014/main" id="{50A385AD-1992-4001-8545-9823B804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953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cell">
            <a:extLst xmlns:a="http://schemas.openxmlformats.org/drawingml/2006/main">
              <a:ext uri="{FF2B5EF4-FFF2-40B4-BE49-F238E27FC236}">
                <a16:creationId xmlns:a16="http://schemas.microsoft.com/office/drawing/2014/main" id="{16F50321-C719-4878-8C58-0339616F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Compte courant</a:t>
            </a:r>
          </a:p>
        </p:txBody>
      </p:sp>
      <p:sp>
        <p:nvSpPr>
          <p:cNvPr id="26" name="cell">
            <a:extLst xmlns:a="http://schemas.openxmlformats.org/drawingml/2006/main">
              <a:ext uri="{FF2B5EF4-FFF2-40B4-BE49-F238E27FC236}">
                <a16:creationId xmlns:a16="http://schemas.microsoft.com/office/drawing/2014/main" id="{05A64A08-8646-4917-8DA1-E7DFC513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A34A"/>
                </a:solidFill>
                <a:latin typeface="Aptos"/>
                <a:ea typeface="Aptos"/>
                <a:cs typeface="Aptos"/>
              </a:rPr>
              <a:t>0 jour</a:t>
            </a:r>
          </a:p>
        </p:txBody>
      </p:sp>
      <p:sp>
        <p:nvSpPr>
          <p:cNvPr id="27" name="cell">
            <a:extLst xmlns:a="http://schemas.openxmlformats.org/drawingml/2006/main">
              <a:ext uri="{FF2B5EF4-FFF2-40B4-BE49-F238E27FC236}">
                <a16:creationId xmlns:a16="http://schemas.microsoft.com/office/drawing/2014/main" id="{7FFB53AB-2B58-41CD-8371-9F95058D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9E0B"/>
                </a:solidFill>
                <a:latin typeface="Aptos"/>
                <a:ea typeface="Aptos"/>
                <a:cs typeface="Aptos"/>
              </a:rPr>
              <a:t>1 à 30 j</a:t>
            </a:r>
          </a:p>
        </p:txBody>
      </p:sp>
      <p:sp>
        <p:nvSpPr>
          <p:cNvPr id="28" name="cell">
            <a:extLst xmlns:a="http://schemas.openxmlformats.org/drawingml/2006/main">
              <a:ext uri="{FF2B5EF4-FFF2-40B4-BE49-F238E27FC236}">
                <a16:creationId xmlns:a16="http://schemas.microsoft.com/office/drawing/2014/main" id="{D100E962-2177-411E-8EBA-31462BB5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2626"/>
                </a:solidFill>
                <a:latin typeface="Aptos"/>
                <a:ea typeface="Aptos"/>
                <a:cs typeface="Aptos"/>
              </a:rPr>
              <a:t>&gt; 30 j</a:t>
            </a:r>
          </a:p>
        </p:txBody>
      </p:sp>
      <p:sp>
        <p:nvSpPr>
          <p:cNvPr id="29" name="cell">
            <a:extLst xmlns:a="http://schemas.openxmlformats.org/drawingml/2006/main">
              <a:ext uri="{FF2B5EF4-FFF2-40B4-BE49-F238E27FC236}">
                <a16:creationId xmlns:a16="http://schemas.microsoft.com/office/drawing/2014/main" id="{DA20F6DF-7F29-451A-9643-ADD60B3A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Risque</a:t>
            </a:r>
          </a:p>
        </p:txBody>
      </p:sp>
      <p:sp>
        <p:nvSpPr>
          <p:cNvPr id="30" name="row">
            <a:extLst xmlns:a="http://schemas.openxmlformats.org/drawingml/2006/main">
              <a:ext uri="{FF2B5EF4-FFF2-40B4-BE49-F238E27FC236}">
                <a16:creationId xmlns:a16="http://schemas.microsoft.com/office/drawing/2014/main" id="{0EDA2583-F8C1-4823-8711-73007B8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0953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cell">
            <a:extLst xmlns:a="http://schemas.openxmlformats.org/drawingml/2006/main">
              <a:ext uri="{FF2B5EF4-FFF2-40B4-BE49-F238E27FC236}">
                <a16:creationId xmlns:a16="http://schemas.microsoft.com/office/drawing/2014/main" id="{E3BB1E7F-9118-43C4-94B4-E960A099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Montant</a:t>
            </a:r>
          </a:p>
        </p:txBody>
      </p:sp>
      <p:sp>
        <p:nvSpPr>
          <p:cNvPr id="32" name="cell">
            <a:extLst xmlns:a="http://schemas.openxmlformats.org/drawingml/2006/main">
              <a:ext uri="{FF2B5EF4-FFF2-40B4-BE49-F238E27FC236}">
                <a16:creationId xmlns:a16="http://schemas.microsoft.com/office/drawing/2014/main" id="{22D448F2-0A65-45EE-BF21-33DD1512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38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A34A"/>
                </a:solidFill>
                <a:latin typeface="Aptos"/>
                <a:ea typeface="Aptos"/>
                <a:cs typeface="Aptos"/>
              </a:rPr>
              <a:t>&lt;= 75 % max</a:t>
            </a:r>
          </a:p>
        </p:txBody>
      </p:sp>
      <p:sp>
        <p:nvSpPr>
          <p:cNvPr id="33" name="cell">
            <a:extLst xmlns:a="http://schemas.openxmlformats.org/drawingml/2006/main">
              <a:ext uri="{FF2B5EF4-FFF2-40B4-BE49-F238E27FC236}">
                <a16:creationId xmlns:a16="http://schemas.microsoft.com/office/drawing/2014/main" id="{5B8AACC1-D667-431B-9545-C0C88805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38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9E0B"/>
                </a:solidFill>
                <a:latin typeface="Aptos"/>
                <a:ea typeface="Aptos"/>
                <a:cs typeface="Aptos"/>
              </a:rPr>
              <a:t>75-100 %</a:t>
            </a:r>
          </a:p>
        </p:txBody>
      </p:sp>
      <p:sp>
        <p:nvSpPr>
          <p:cNvPr id="34" name="cell">
            <a:extLst xmlns:a="http://schemas.openxmlformats.org/drawingml/2006/main">
              <a:ext uri="{FF2B5EF4-FFF2-40B4-BE49-F238E27FC236}">
                <a16:creationId xmlns:a16="http://schemas.microsoft.com/office/drawing/2014/main" id="{7501A36C-4DD3-4F12-9C41-3B287D19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2626"/>
                </a:solidFill>
                <a:latin typeface="Aptos"/>
                <a:ea typeface="Aptos"/>
                <a:cs typeface="Aptos"/>
              </a:rPr>
              <a:t>&gt; max</a:t>
            </a:r>
          </a:p>
        </p:txBody>
      </p:sp>
      <p:sp>
        <p:nvSpPr>
          <p:cNvPr id="35" name="cell">
            <a:extLst xmlns:a="http://schemas.openxmlformats.org/drawingml/2006/main">
              <a:ext uri="{FF2B5EF4-FFF2-40B4-BE49-F238E27FC236}">
                <a16:creationId xmlns:a16="http://schemas.microsoft.com/office/drawing/2014/main" id="{355DB084-FCAD-4C73-9E06-7BE186C4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38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Liquidité</a:t>
            </a:r>
          </a:p>
        </p:txBody>
      </p:sp>
      <p:sp>
        <p:nvSpPr>
          <p:cNvPr id="36" name="rule">
            <a:extLst xmlns:a="http://schemas.openxmlformats.org/drawingml/2006/main">
              <a:ext uri="{FF2B5EF4-FFF2-40B4-BE49-F238E27FC236}">
                <a16:creationId xmlns:a16="http://schemas.microsoft.com/office/drawing/2014/main" id="{0AA447A8-F9D3-4EBD-ACD4-A4842F00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Principe : la décision globale suit le maillon faible. Un indicateur rouge suffit pour classer l'analyse en rouge.</a:t>
            </a:r>
          </a:p>
        </p:txBody>
      </p:sp>
    </p:spTree>
    <p:extLst>
      <p:ext uri="{BB962C8B-B14F-4D97-AF65-F5344CB8AC3E}">
        <p14:creationId xmlns:p14="http://schemas.microsoft.com/office/powerpoint/2010/main" val="16883854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5E44306D-4A5D-4E5C-A74D-F6E8F61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812320A-E283-4812-9534-B014E26B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11 - Architecture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8CD142-8421-4560-B3DE-EE821F3F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Architecture backend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7D28090-A48A-4F69-845E-BA23CC3E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8F587359-1512-4F03-8FCF-215B8A16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82666CF-A852-4A6D-98FA-7BDDE39B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12/19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2E95B1BF-28D9-458C-8633-4A290FCF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666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488A7A38-1FC9-46B0-8336-EA757B7E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881E6ED0-3C9B-422E-879B-B7C2BD34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38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69C96291-2EF4-492E-A7FA-C68889EA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666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label">
            <a:extLst xmlns:a="http://schemas.openxmlformats.org/drawingml/2006/main">
              <a:ext uri="{FF2B5EF4-FFF2-40B4-BE49-F238E27FC236}">
                <a16:creationId xmlns:a16="http://schemas.microsoft.com/office/drawing/2014/main" id="{CDB43669-773D-4B13-A333-254891E6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DTO / Mapper</a:t>
            </a:r>
          </a:p>
        </p:txBody>
      </p:sp>
      <p:sp>
        <p:nvSpPr>
          <p:cNvPr id="12" name="arrow">
            <a:extLst xmlns:a="http://schemas.openxmlformats.org/drawingml/2006/main">
              <a:ext uri="{FF2B5EF4-FFF2-40B4-BE49-F238E27FC236}">
                <a16:creationId xmlns:a16="http://schemas.microsoft.com/office/drawing/2014/main" id="{3CD7D480-5378-4325-BB0A-2E0ACE23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38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344FA740-AEF2-4884-B5B2-888227C9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666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071426"/>
            </a:solidFill>
            <a:prstDash val="solid"/>
          </a:ln>
        </p:spPr>
      </p:sp>
      <p:sp>
        <p:nvSpPr>
          <p:cNvPr id="14" name="label">
            <a:extLst xmlns:a="http://schemas.openxmlformats.org/drawingml/2006/main">
              <a:ext uri="{FF2B5EF4-FFF2-40B4-BE49-F238E27FC236}">
                <a16:creationId xmlns:a16="http://schemas.microsoft.com/office/drawing/2014/main" id="{2E277FE5-850E-446B-A1E1-A65B9788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 métier</a:t>
            </a:r>
          </a:p>
        </p:txBody>
      </p:sp>
      <p:sp>
        <p:nvSpPr>
          <p:cNvPr id="15" name="arrow">
            <a:extLst xmlns:a="http://schemas.openxmlformats.org/drawingml/2006/main">
              <a:ext uri="{FF2B5EF4-FFF2-40B4-BE49-F238E27FC236}">
                <a16:creationId xmlns:a16="http://schemas.microsoft.com/office/drawing/2014/main" id="{E9C1058D-5CA5-42B5-84AC-2E719A27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38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5DAEA48A-F6E3-40A9-8029-A7612DD6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1666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label">
            <a:extLst xmlns:a="http://schemas.openxmlformats.org/drawingml/2006/main">
              <a:ext uri="{FF2B5EF4-FFF2-40B4-BE49-F238E27FC236}">
                <a16:creationId xmlns:a16="http://schemas.microsoft.com/office/drawing/2014/main" id="{C08D287E-D0DE-4C2D-A8B1-635A1656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18" name="arrow">
            <a:extLst xmlns:a="http://schemas.openxmlformats.org/drawingml/2006/main">
              <a:ext uri="{FF2B5EF4-FFF2-40B4-BE49-F238E27FC236}">
                <a16:creationId xmlns:a16="http://schemas.microsoft.com/office/drawing/2014/main" id="{660BB6B8-3987-4ADA-B041-7B71E39B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38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DD408726-A6D8-47C2-BDED-77650DF8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1666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45BBD7D7-4B41-4984-9D5E-7E908C8F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21" name="note">
            <a:extLst xmlns:a="http://schemas.openxmlformats.org/drawingml/2006/main">
              <a:ext uri="{FF2B5EF4-FFF2-40B4-BE49-F238E27FC236}">
                <a16:creationId xmlns:a16="http://schemas.microsoft.com/office/drawing/2014/main" id="{C9D2FB31-5045-4ECD-A814-ED1736DA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48125"/>
            <a:ext cx="962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 service métier concentre les calculs et les règles de décision. Le frontend affiche le résultat, mais ne porte pas la logique financière critique.</a:t>
            </a:r>
          </a:p>
        </p:txBody>
      </p:sp>
    </p:spTree>
    <p:extLst>
      <p:ext uri="{BB962C8B-B14F-4D97-AF65-F5344CB8AC3E}">
        <p14:creationId xmlns:p14="http://schemas.microsoft.com/office/powerpoint/2010/main" val="20904612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543A3977-E804-4475-B62D-0B573AA5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4DD3DC2-52E6-46D9-8E2D-97A5A0E3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12 - Sécurité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6CE9AF-CEED-45F5-9967-62184EB3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Sécurité et cohérence des données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F25037E-DC03-4786-BA3E-D0DB8DB1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B4FFDF10-9CF6-45FE-B3D0-121D8AE3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777BA24-6DF8-4944-81DE-37701C09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13/19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F8D40D1A-2CFA-4975-B4C7-055E3ED1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80C80630-1AEF-47DB-A704-E8169BFA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872B6A95-186B-4EA5-8D98-51658CC7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4307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JWT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3A1E4038-FB3C-4A9D-96F5-BCC92BF7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Authentification sans session serveur et protection des endpoints.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312173EA-097E-4ED4-B979-6D18D279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accent">
            <a:extLst xmlns:a="http://schemas.openxmlformats.org/drawingml/2006/main">
              <a:ext uri="{FF2B5EF4-FFF2-40B4-BE49-F238E27FC236}">
                <a16:creationId xmlns:a16="http://schemas.microsoft.com/office/drawing/2014/main" id="{2EDF4AA3-41AA-47C5-95F7-98A60409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7436BE88-7358-4174-800D-F56C2B23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4307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Ownership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674CD247-E97A-4B6A-8C1F-E3C135B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24075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Le backend vérifie que l'utilisateur possède l'entreprise ou l'analyse demandée.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38C681F0-44DE-426D-BC28-89877F48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71625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accent">
            <a:extLst xmlns:a="http://schemas.openxmlformats.org/drawingml/2006/main">
              <a:ext uri="{FF2B5EF4-FFF2-40B4-BE49-F238E27FC236}">
                <a16:creationId xmlns:a16="http://schemas.microsoft.com/office/drawing/2014/main" id="{A23722FB-039F-4930-9A19-7DC9F646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71625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title">
            <a:extLst xmlns:a="http://schemas.openxmlformats.org/drawingml/2006/main">
              <a:ext uri="{FF2B5EF4-FFF2-40B4-BE49-F238E27FC236}">
                <a16:creationId xmlns:a16="http://schemas.microsoft.com/office/drawing/2014/main" id="{3DBEC5BE-60BA-44DD-80F7-4BDB579E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4307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8" name="card-body">
            <a:extLst xmlns:a="http://schemas.openxmlformats.org/drawingml/2006/main">
              <a:ext uri="{FF2B5EF4-FFF2-40B4-BE49-F238E27FC236}">
                <a16:creationId xmlns:a16="http://schemas.microsoft.com/office/drawing/2014/main" id="{76274D78-724F-44D1-8572-05CA8277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24075"/>
            <a:ext cx="2819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DTO, services et tests protègent les flux métier critiques.</a:t>
            </a:r>
          </a:p>
        </p:txBody>
      </p:sp>
      <p:sp>
        <p:nvSpPr>
          <p:cNvPr id="19" name="note">
            <a:extLst xmlns:a="http://schemas.openxmlformats.org/drawingml/2006/main">
              <a:ext uri="{FF2B5EF4-FFF2-40B4-BE49-F238E27FC236}">
                <a16:creationId xmlns:a16="http://schemas.microsoft.com/office/drawing/2014/main" id="{5A015501-6F43-4EAD-8D38-0513A4D3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Point à dire au jury : la sécurité n'est pas seulement l'écran de connexion, c'est aussi la vérification des droits dans chaque workflow sensible.</a:t>
            </a:r>
          </a:p>
        </p:txBody>
      </p:sp>
    </p:spTree>
    <p:extLst>
      <p:ext uri="{BB962C8B-B14F-4D97-AF65-F5344CB8AC3E}">
        <p14:creationId xmlns:p14="http://schemas.microsoft.com/office/powerpoint/2010/main" val="17619040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A5F98EB-5CAB-47D6-B218-04FA8003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56C1109-CBE4-41BC-B095-F5784972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13 - Production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953DF6-C6A1-462A-80BF-31D56B71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Préparation à la production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7FC6994-76E7-4AFC-83FE-42FDEE7F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29CB1D83-D240-4A15-88B5-055FF604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3EF5357-4866-4B6B-A462-8ACF9A94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14/19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4AF23C0C-0EBC-410D-A4E3-912B6C31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300037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88BE9DF5-3324-494D-818D-B7EEDD75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57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CE7B5DDA-984E-4F34-BD6B-85E4D2CE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90700"/>
            <a:ext cx="2581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C0A7E339-4EF6-48A2-A853-9ADBDE56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25812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Persistance relationnelle des utilisateurs, entreprises, analyses et résultats.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222F6ACE-F2FA-4F06-AB87-C82A40D5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300037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accent">
            <a:extLst xmlns:a="http://schemas.openxmlformats.org/drawingml/2006/main">
              <a:ext uri="{FF2B5EF4-FFF2-40B4-BE49-F238E27FC236}">
                <a16:creationId xmlns:a16="http://schemas.microsoft.com/office/drawing/2014/main" id="{458F1799-7E31-406E-9273-B0B826B4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57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6E33421C-9152-453E-A2A3-DE609A92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90700"/>
            <a:ext cx="2581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Flyway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8C2F9120-0457-4134-B39F-DEDD38DD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71700"/>
            <a:ext cx="25812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Schéma versionné par migrations SQL pour éviter les bases non maîtrisées.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6CB1AC1D-CE2B-4779-846B-3F269C4F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19250"/>
            <a:ext cx="300037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accent">
            <a:extLst xmlns:a="http://schemas.openxmlformats.org/drawingml/2006/main">
              <a:ext uri="{FF2B5EF4-FFF2-40B4-BE49-F238E27FC236}">
                <a16:creationId xmlns:a16="http://schemas.microsoft.com/office/drawing/2014/main" id="{11681897-59D5-439F-8D16-26448E2F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19250"/>
            <a:ext cx="57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title">
            <a:extLst xmlns:a="http://schemas.openxmlformats.org/drawingml/2006/main">
              <a:ext uri="{FF2B5EF4-FFF2-40B4-BE49-F238E27FC236}">
                <a16:creationId xmlns:a16="http://schemas.microsoft.com/office/drawing/2014/main" id="{90FD548D-5501-4575-BFE7-60F54E13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581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CI / Docker</a:t>
            </a:r>
          </a:p>
        </p:txBody>
      </p:sp>
      <p:sp>
        <p:nvSpPr>
          <p:cNvPr id="18" name="card-body">
            <a:extLst xmlns:a="http://schemas.openxmlformats.org/drawingml/2006/main">
              <a:ext uri="{FF2B5EF4-FFF2-40B4-BE49-F238E27FC236}">
                <a16:creationId xmlns:a16="http://schemas.microsoft.com/office/drawing/2014/main" id="{FED0010D-7813-487A-AEB1-AA58E0F9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71700"/>
            <a:ext cx="25812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Base locale reproductible et vérifications automatiques sur GitHub.</a:t>
            </a:r>
          </a:p>
        </p:txBody>
      </p:sp>
      <p:sp>
        <p:nvSpPr>
          <p:cNvPr id="19" name="note">
            <a:extLst xmlns:a="http://schemas.openxmlformats.org/drawingml/2006/main">
              <a:ext uri="{FF2B5EF4-FFF2-40B4-BE49-F238E27FC236}">
                <a16:creationId xmlns:a16="http://schemas.microsoft.com/office/drawing/2014/main" id="{1941F8F3-C0A1-4D25-8B9D-46EB278A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 secrets et paramètres sensibles sont externalisés : port, URL DB, mot de passe, JWT secret et CORS ne sont pas codés en dur.</a:t>
            </a:r>
          </a:p>
        </p:txBody>
      </p:sp>
    </p:spTree>
    <p:extLst>
      <p:ext uri="{BB962C8B-B14F-4D97-AF65-F5344CB8AC3E}">
        <p14:creationId xmlns:p14="http://schemas.microsoft.com/office/powerpoint/2010/main" val="20035481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FCE26D97-098A-4BF0-A7FF-15BC26DB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B99FC7F-1496-4516-870E-75F71992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14 - Démo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E01BFC-4126-4F81-9274-F258FAFB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Démo : scénario de bout en bout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69D45B0-02AE-45F1-A888-F9DCDA4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88C68C3D-9EE4-4DBF-A0EC-76988C51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F58354B-EF2D-4C01-A63A-9BD9699E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15/19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D1EA0D56-A999-4986-A3FF-965A436D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D88CA733-A262-421B-853D-3D551BB6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3CFA823C-14B2-440D-B744-6FA02769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743075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1. Connexion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E370BF27-E79A-4A22-B927-87ACD75B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124075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Étape visible dans l'écran.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F2D46840-F8D4-4AE3-ADF4-F0A17158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accent">
            <a:extLst xmlns:a="http://schemas.openxmlformats.org/drawingml/2006/main">
              <a:ext uri="{FF2B5EF4-FFF2-40B4-BE49-F238E27FC236}">
                <a16:creationId xmlns:a16="http://schemas.microsoft.com/office/drawing/2014/main" id="{0437B205-B120-4F85-9685-155BDE91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5943F487-2B35-437E-B095-5C8A12E4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43075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2. Création entreprise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D2B446B2-CC1A-48B1-A70B-E46C35AF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24075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Étape visible dans l'écran.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41DE84D2-6948-42C1-AA5A-6C5C9FB1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accent">
            <a:extLst xmlns:a="http://schemas.openxmlformats.org/drawingml/2006/main">
              <a:ext uri="{FF2B5EF4-FFF2-40B4-BE49-F238E27FC236}">
                <a16:creationId xmlns:a16="http://schemas.microsoft.com/office/drawing/2014/main" id="{60245397-9583-4587-9C34-EDE2B247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title">
            <a:extLst xmlns:a="http://schemas.openxmlformats.org/drawingml/2006/main">
              <a:ext uri="{FF2B5EF4-FFF2-40B4-BE49-F238E27FC236}">
                <a16:creationId xmlns:a16="http://schemas.microsoft.com/office/drawing/2014/main" id="{74573BE5-798E-40BA-96B5-93C7FFF4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743075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3. Saisie des chiffres</a:t>
            </a:r>
          </a:p>
        </p:txBody>
      </p:sp>
      <p:sp>
        <p:nvSpPr>
          <p:cNvPr id="18" name="card-body">
            <a:extLst xmlns:a="http://schemas.openxmlformats.org/drawingml/2006/main">
              <a:ext uri="{FF2B5EF4-FFF2-40B4-BE49-F238E27FC236}">
                <a16:creationId xmlns:a16="http://schemas.microsoft.com/office/drawing/2014/main" id="{AD200EF0-9973-4ACE-8D22-98BF4411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24075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Étape visible dans l'écran.</a:t>
            </a:r>
          </a:p>
        </p:txBody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C0F9529F-F320-4BC7-B6D8-C3CDF4E0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accent">
            <a:extLst xmlns:a="http://schemas.openxmlformats.org/drawingml/2006/main">
              <a:ext uri="{FF2B5EF4-FFF2-40B4-BE49-F238E27FC236}">
                <a16:creationId xmlns:a16="http://schemas.microsoft.com/office/drawing/2014/main" id="{176AF823-C17C-4D25-BAEB-1E3E1343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2DD53B50-5A8E-446E-B0FD-C13461E2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362325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4. Demande de retrait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C3F702AB-DC75-473C-87D8-5FBF6C64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743325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Étape visible dans l'écran.</a:t>
            </a:r>
          </a:p>
        </p:txBody>
      </p:sp>
      <p:sp>
        <p:nvSpPr>
          <p:cNvPr id="23" name="card">
            <a:extLst xmlns:a="http://schemas.openxmlformats.org/drawingml/2006/main">
              <a:ext uri="{FF2B5EF4-FFF2-40B4-BE49-F238E27FC236}">
                <a16:creationId xmlns:a16="http://schemas.microsoft.com/office/drawing/2014/main" id="{F89DF65F-FE95-4578-B40D-46849F04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90875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accent">
            <a:extLst xmlns:a="http://schemas.openxmlformats.org/drawingml/2006/main">
              <a:ext uri="{FF2B5EF4-FFF2-40B4-BE49-F238E27FC236}">
                <a16:creationId xmlns:a16="http://schemas.microsoft.com/office/drawing/2014/main" id="{5F8F68DC-8472-4727-AF48-401D410A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9087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title">
            <a:extLst xmlns:a="http://schemas.openxmlformats.org/drawingml/2006/main">
              <a:ext uri="{FF2B5EF4-FFF2-40B4-BE49-F238E27FC236}">
                <a16:creationId xmlns:a16="http://schemas.microsoft.com/office/drawing/2014/main" id="{CFC891AA-4E85-451F-93D3-9912F615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62325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5. Résultat tricolore</a:t>
            </a:r>
          </a:p>
        </p:txBody>
      </p:sp>
      <p:sp>
        <p:nvSpPr>
          <p:cNvPr id="26" name="card-body">
            <a:extLst xmlns:a="http://schemas.openxmlformats.org/drawingml/2006/main">
              <a:ext uri="{FF2B5EF4-FFF2-40B4-BE49-F238E27FC236}">
                <a16:creationId xmlns:a16="http://schemas.microsoft.com/office/drawing/2014/main" id="{DCCA527D-9A1B-4ACC-AF0A-F167095A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43325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Je montre la couleur et les scores.</a:t>
            </a:r>
          </a:p>
        </p:txBody>
      </p:sp>
      <p:sp>
        <p:nvSpPr>
          <p:cNvPr id="27" name="card">
            <a:extLst xmlns:a="http://schemas.openxmlformats.org/drawingml/2006/main">
              <a:ext uri="{FF2B5EF4-FFF2-40B4-BE49-F238E27FC236}">
                <a16:creationId xmlns:a16="http://schemas.microsoft.com/office/drawing/2014/main" id="{96BF24DD-F335-49AB-A353-55BC3D1C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90875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accent">
            <a:extLst xmlns:a="http://schemas.openxmlformats.org/drawingml/2006/main">
              <a:ext uri="{FF2B5EF4-FFF2-40B4-BE49-F238E27FC236}">
                <a16:creationId xmlns:a16="http://schemas.microsoft.com/office/drawing/2014/main" id="{74C1A353-559A-4758-B85B-4C112456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9087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ard-title">
            <a:extLst xmlns:a="http://schemas.openxmlformats.org/drawingml/2006/main">
              <a:ext uri="{FF2B5EF4-FFF2-40B4-BE49-F238E27FC236}">
                <a16:creationId xmlns:a16="http://schemas.microsoft.com/office/drawing/2014/main" id="{BBE12FAC-D043-4315-B2DF-DE5840B5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362325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6. Recommandations</a:t>
            </a:r>
          </a:p>
        </p:txBody>
      </p:sp>
      <p:sp>
        <p:nvSpPr>
          <p:cNvPr id="30" name="card-body">
            <a:extLst xmlns:a="http://schemas.openxmlformats.org/drawingml/2006/main">
              <a:ext uri="{FF2B5EF4-FFF2-40B4-BE49-F238E27FC236}">
                <a16:creationId xmlns:a16="http://schemas.microsoft.com/office/drawing/2014/main" id="{CAF1EC94-BEAA-4EEF-982C-C3EB45D5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43325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Étape visible dans l'écran.</a:t>
            </a:r>
          </a:p>
        </p:txBody>
      </p:sp>
    </p:spTree>
    <p:extLst>
      <p:ext uri="{BB962C8B-B14F-4D97-AF65-F5344CB8AC3E}">
        <p14:creationId xmlns:p14="http://schemas.microsoft.com/office/powerpoint/2010/main" val="17726625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3C38C40-398B-4E00-9A11-0ED182A2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C4AB788-F831-430C-8E5D-B5C64E92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15 - Tests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756A84-5C71-4CC0-B8DD-9D1FDEB8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Jeux de test à présenter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746CBFA-8D54-49CA-8755-61180521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11EAF389-7901-4D5D-BC60-7752E39E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BE72BEB-F804-4F8F-A8D5-62541820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16/19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25519729-86FA-4C1A-944B-AA0B4231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32385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006A4EB2-394C-4917-974A-E4319571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571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AC64A7CC-187D-458D-AB5D-C3AB0D93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4307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Vert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44F912A6-3FD7-44CF-B33F-04DB37BB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19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CA 50 000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Charges 30 000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Trésorerie 120 000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Retrait 10 000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EF75A1AD-A346-47A8-87DB-66C3BEEF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32385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accent">
            <a:extLst xmlns:a="http://schemas.openxmlformats.org/drawingml/2006/main">
              <a:ext uri="{FF2B5EF4-FFF2-40B4-BE49-F238E27FC236}">
                <a16:creationId xmlns:a16="http://schemas.microsoft.com/office/drawing/2014/main" id="{3475827E-EBCD-4A90-A4D3-3124E5D3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571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F5E1BA6A-313E-4D2F-9EB2-E84E33C3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4307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Orange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7E441CA4-E4CE-4214-8C1E-222F7095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24075"/>
            <a:ext cx="2819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CA 36 000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Charges 30 000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Trésorerie 60 000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Retrait 5 000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F655AF4C-768F-4D47-8EBB-19D0D35E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71625"/>
            <a:ext cx="32385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accent">
            <a:extLst xmlns:a="http://schemas.openxmlformats.org/drawingml/2006/main">
              <a:ext uri="{FF2B5EF4-FFF2-40B4-BE49-F238E27FC236}">
                <a16:creationId xmlns:a16="http://schemas.microsoft.com/office/drawing/2014/main" id="{F7B7658F-F6F1-4021-8FF3-328661E8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71625"/>
            <a:ext cx="571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title">
            <a:extLst xmlns:a="http://schemas.openxmlformats.org/drawingml/2006/main">
              <a:ext uri="{FF2B5EF4-FFF2-40B4-BE49-F238E27FC236}">
                <a16:creationId xmlns:a16="http://schemas.microsoft.com/office/drawing/2014/main" id="{85E8F464-2B6B-4B85-8992-8E3EE163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4307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Rouge</a:t>
            </a:r>
          </a:p>
        </p:txBody>
      </p:sp>
      <p:sp>
        <p:nvSpPr>
          <p:cNvPr id="18" name="card-body">
            <a:extLst xmlns:a="http://schemas.openxmlformats.org/drawingml/2006/main">
              <a:ext uri="{FF2B5EF4-FFF2-40B4-BE49-F238E27FC236}">
                <a16:creationId xmlns:a16="http://schemas.microsoft.com/office/drawing/2014/main" id="{A7700F47-CE60-4536-9AA2-C9C3A44A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24075"/>
            <a:ext cx="2819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CA 25 000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Charges 30 000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Trésorerie 20 000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Retrait 5 000</a:t>
            </a:r>
          </a:p>
        </p:txBody>
      </p:sp>
      <p:sp>
        <p:nvSpPr>
          <p:cNvPr id="19" name="note">
            <a:extLst xmlns:a="http://schemas.openxmlformats.org/drawingml/2006/main">
              <a:ext uri="{FF2B5EF4-FFF2-40B4-BE49-F238E27FC236}">
                <a16:creationId xmlns:a16="http://schemas.microsoft.com/office/drawing/2014/main" id="{B0EC9FFE-4361-452B-BBDC-9A6DBED9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Ces tests prouvent que le workflow réagit aux données et que la grille n'est pas décorative.</a:t>
            </a:r>
          </a:p>
        </p:txBody>
      </p:sp>
    </p:spTree>
    <p:extLst>
      <p:ext uri="{BB962C8B-B14F-4D97-AF65-F5344CB8AC3E}">
        <p14:creationId xmlns:p14="http://schemas.microsoft.com/office/powerpoint/2010/main" val="3797694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5F06A81-18CD-4ACC-8E6A-5FAF74B9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FB6FFD7-7FFE-4711-AFFC-027A2BEE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16 - Qualité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5A4F37-AAFB-46BA-B661-1AD20413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Qualité logicielle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B9A8FEB-83A1-418E-B117-30174130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1843A364-39AA-4F08-BCC9-DD172061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DF889FA-12EF-413B-92A3-AFF2A93F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17/19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C04DC114-46A7-440F-BE3D-021200FA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30003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4D7CA41F-B86D-4408-BCEF-DD4B52A3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213035B9-9D21-45A3-AD3B-EA03D1A5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43075"/>
            <a:ext cx="2581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Tests backend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53ED781F-6D6E-49E0-990D-CC704392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24075"/>
            <a:ext cx="25812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Tests Spring Boot sur services, contrôleurs et règles métier.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009E09CF-2326-4853-A4FE-D5BD0104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71625"/>
            <a:ext cx="30003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accent">
            <a:extLst xmlns:a="http://schemas.openxmlformats.org/drawingml/2006/main">
              <a:ext uri="{FF2B5EF4-FFF2-40B4-BE49-F238E27FC236}">
                <a16:creationId xmlns:a16="http://schemas.microsoft.com/office/drawing/2014/main" id="{E54A6634-41FC-4943-AEAC-2125B7ED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71625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A2A8D421-6E89-4C2E-9534-6B913975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43075"/>
            <a:ext cx="2581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Build frontend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DC6F9935-7FD8-415B-9BA7-F8FFC140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24075"/>
            <a:ext cx="25812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Type-check et build Vite avant livraison.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476F1B24-F417-4DE7-9E19-FC0BE1C1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30003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accent">
            <a:extLst xmlns:a="http://schemas.openxmlformats.org/drawingml/2006/main">
              <a:ext uri="{FF2B5EF4-FFF2-40B4-BE49-F238E27FC236}">
                <a16:creationId xmlns:a16="http://schemas.microsoft.com/office/drawing/2014/main" id="{A111E818-0C39-4F15-BCBB-8E4435EE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title">
            <a:extLst xmlns:a="http://schemas.openxmlformats.org/drawingml/2006/main">
              <a:ext uri="{FF2B5EF4-FFF2-40B4-BE49-F238E27FC236}">
                <a16:creationId xmlns:a16="http://schemas.microsoft.com/office/drawing/2014/main" id="{CD1F967B-3C0B-44C2-A13A-6F81B60F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43075"/>
            <a:ext cx="2581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Deux repos Git</a:t>
            </a:r>
          </a:p>
        </p:txBody>
      </p:sp>
      <p:sp>
        <p:nvSpPr>
          <p:cNvPr id="18" name="card-body">
            <a:extLst xmlns:a="http://schemas.openxmlformats.org/drawingml/2006/main">
              <a:ext uri="{FF2B5EF4-FFF2-40B4-BE49-F238E27FC236}">
                <a16:creationId xmlns:a16="http://schemas.microsoft.com/office/drawing/2014/main" id="{061EFF5E-5AFF-4D2B-9698-9220890B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24075"/>
            <a:ext cx="25812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CI séparée : backend et frontend évoluent indépendamment.</a:t>
            </a:r>
          </a:p>
        </p:txBody>
      </p:sp>
      <p:sp>
        <p:nvSpPr>
          <p:cNvPr id="19" name="note">
            <a:extLst xmlns:a="http://schemas.openxmlformats.org/drawingml/2006/main">
              <a:ext uri="{FF2B5EF4-FFF2-40B4-BE49-F238E27FC236}">
                <a16:creationId xmlns:a16="http://schemas.microsoft.com/office/drawing/2014/main" id="{4E67C44E-C760-4868-A4DB-6CA65B4B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Ce point montre que le projet n'est pas seulement une démo : il commence à intégrer des pratiques de livraison.</a:t>
            </a:r>
          </a:p>
        </p:txBody>
      </p:sp>
    </p:spTree>
    <p:extLst>
      <p:ext uri="{BB962C8B-B14F-4D97-AF65-F5344CB8AC3E}">
        <p14:creationId xmlns:p14="http://schemas.microsoft.com/office/powerpoint/2010/main" val="16812300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C88372F0-24C8-45FD-8438-0571CA90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D7CFEBC-AC40-44C5-9898-F1385179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17 - Suite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670EFF-84AA-4B7A-9A89-544093F1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Limites et perspectives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1F01C35-1F86-406D-A6AC-B048E214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E649F2D6-3A45-4D0F-AAD6-5B66B27E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2AF3174-C8B2-44CE-89C0-B79D23A1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18/19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C322789C-F051-470A-8E77-173D60CF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43815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67FB5EA2-2D98-4207-A2EF-C78F4DDA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571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E4E6604B-80E7-432A-9559-55F195FE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43075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Limites du MVP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5D74DFB6-DAA9-4E07-8C88-60758116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24075"/>
            <a:ext cx="39624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Saisie manuelle des données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Seuils identiques pour tous les profils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Analyse à un instant donné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Pas encore de connexion comptable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E0E35824-5042-4082-A985-31D566CC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43815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accent">
            <a:extLst xmlns:a="http://schemas.openxmlformats.org/drawingml/2006/main">
              <a:ext uri="{FF2B5EF4-FFF2-40B4-BE49-F238E27FC236}">
                <a16:creationId xmlns:a16="http://schemas.microsoft.com/office/drawing/2014/main" id="{7948E774-E9DF-4A5A-B440-B8D49279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571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05241B11-2609-4226-B7A3-B28860BD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43075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Évolutions réalistes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CD89F7AB-BF12-4EEA-B1EE-6F0E3BA9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24075"/>
            <a:ext cx="39624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Import bancaire ou comptable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Historique des analyses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Exports PDF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Alertes automatiques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Paramétrage par secteur</a:t>
            </a:r>
          </a:p>
        </p:txBody>
      </p:sp>
    </p:spTree>
    <p:extLst>
      <p:ext uri="{BB962C8B-B14F-4D97-AF65-F5344CB8AC3E}">
        <p14:creationId xmlns:p14="http://schemas.microsoft.com/office/powerpoint/2010/main" val="8511809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">
            <a:extLst xmlns:a="http://schemas.openxmlformats.org/drawingml/2006/main">
              <a:ext uri="{FF2B5EF4-FFF2-40B4-BE49-F238E27FC236}">
                <a16:creationId xmlns:a16="http://schemas.microsoft.com/office/drawing/2014/main" id="{86239ACC-71EE-432E-9CDE-977F20F4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E44794-241A-4C4A-9FAB-7BF577DB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conclusion">
            <a:extLst xmlns:a="http://schemas.openxmlformats.org/drawingml/2006/main">
              <a:ext uri="{FF2B5EF4-FFF2-40B4-BE49-F238E27FC236}">
                <a16:creationId xmlns:a16="http://schemas.microsoft.com/office/drawing/2014/main" id="{4C16B631-9310-43EA-8424-62593990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5EEF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5EEF9"/>
                </a:solidFill>
                <a:latin typeface="Aptos"/>
                <a:ea typeface="Aptos"/>
                <a:cs typeface="Aptos"/>
              </a:rPr>
              <a:t>SaveFunds est un MVP fonctionnel qui transforme des données financières simples en décision argumentée, avec une architecture backend claire et une trajectoire crédible vers la production.</a:t>
            </a:r>
          </a:p>
        </p:txBody>
      </p:sp>
      <p:sp>
        <p:nvSpPr>
          <p:cNvPr id="4" name="questions">
            <a:extLst xmlns:a="http://schemas.openxmlformats.org/drawingml/2006/main">
              <a:ext uri="{FF2B5EF4-FFF2-40B4-BE49-F238E27FC236}">
                <a16:creationId xmlns:a16="http://schemas.microsoft.com/office/drawing/2014/main" id="{97BAFE4C-2B78-4F8D-BA72-7313C087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Questions ?</a:t>
            </a:r>
          </a:p>
        </p:txBody>
      </p:sp>
      <p:sp>
        <p:nvSpPr>
          <p:cNvPr id="5" name="thanks">
            <a:extLst xmlns:a="http://schemas.openxmlformats.org/drawingml/2006/main">
              <a:ext uri="{FF2B5EF4-FFF2-40B4-BE49-F238E27FC236}">
                <a16:creationId xmlns:a16="http://schemas.microsoft.com/office/drawing/2014/main" id="{EE982E6B-B11C-4329-813B-42E135FE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7D2FE"/>
                </a:solidFill>
                <a:latin typeface="Aptos"/>
                <a:ea typeface="Aptos"/>
                <a:cs typeface="Aptos"/>
              </a:rPr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1177814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2026-06-18T12:31:07.2710000Z</dcterms:created>
  <dcterms:modified xsi:type="dcterms:W3CDTF">2026-06-18T12:31:07.2710000Z</dcterms:modified>
</coreProperties>
</file>